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</p:sldIdLst>
  <p:notesMasterIdLst>
    <p:notesMasterId r:id="rId2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notesMaster" Target="notesMasters/notesMaster1.xml"/><Relationship Id="rId26" Type="http://schemas.openxmlformats.org/officeDocument/2006/relationships/presProps" Target="presProps.xml"/><Relationship Id="rId27" Type="http://schemas.openxmlformats.org/officeDocument/2006/relationships/viewProps" Target="viewProps.xml"/><Relationship Id="rId28" Type="http://schemas.openxmlformats.org/officeDocument/2006/relationships/theme" Target="theme/theme1.xml"/><Relationship Id="rId2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Title card. Subtitle deliberately names the four core artifact classes - the deck's first echo of the artifact-class table (slide 6). Footer: DARPA PROVERS sponsor acknowledgment with contract number (INSPECTA is the team's project under PROVERS).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~15 seconds on first appearance; the same slide reprises before each later section with that section highlighted (deck positions 8, 17, 19).
Design decision: one generator function holds the strip so a section rename is a single edit. Header titles are provisional.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Promise the audience every demo scene echoes the banner.
The administrator's bless survives 'every': authority enters the system only AS signed evidence (the blessed baseline), never by assertion - scene 6's laundering beat proves exactly that.
Subline payoffs: developer claims -&gt; scenes 5/7; untrusted tools -&gt; scene 7; LLM outputs -&gt; capstone slides A/B; cached verdicts -&gt; scene 11.
Visual TODO: three-stage widening-scope progression (boot-time -&gt; layered runtime -&gt; lifecycle loop) to replace/join the bullets.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One phrase of 'what this layer contributes' each; asp-libs has its own layer box; keep it to one spoken clause (its inventory returns as a star of capstone slide B).
On the snippet: 'you don't need to read this - you need to know it's a formal object with an evidence semantics.' Measure the five blessed model files, sign the evidence, appraise it.
Snippet source: tests/fixtures/isolette_sysmlv2_rust_props/term.json, rendered in concrete syntax (branches flattened, target IDs shortened to file names - cosmetic).
The verus-tier measure-then-use phrase is deliberately held back for scene 7's reveal.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Keep the vocabulary minimal: entry, episode, knowledge source, ladder, escalate. Everything else is detail the scenes show live.
Semantics verified against the pybb README control flow: green = on-pass (results return to the Controller; standing re-established only by its re-evaluation, with restart-episode forcing genuinely fresh measurement); red = on-fail (handoff on exhaustion with changes restored; exhausted routes escalate; provision requests have no repair chains and escalate immediately - the readiness-gate refusal).
The Administrator blessing box is dashed/white: a human, out-of-band authority act, not a component in the measured loop - only exit from a refused baseline (scene 6).
Speaker-note-only details (cut from the slide): on_pass/on_fail dispatch mechanics, success-driven handoff for component-wise entries, max_attempts per rung.
The legend earns its space: every scene's checklist frames render through these glyphs.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audience's glossary for the terminal scenes - point back at the slide-5 diagram while reading it.
Entry keys in the real demos are the provisioned protocols: ready (the readiness gate), isolette_sysmlv2_rust_props (blessed model), _l1a (file hashes), _l2 (contract slices), _verus, _cheat, _sysproof, _gensrc, _report. Every row of the checklist the audience is about to watch is one of these keys.
Predicate and restart-episode are deliberately OFF this slide (parked; placement TBD - possibly an 'evaluation primitives' strip). If asked: a predicate is the judge (one evaluation = one attestation episode), restart-episode is the freshness primitive (forget memoized verdicts, reset, re-evaluate).
Also deliberately excluded (README-level detail): partition mechanics, component-wise entries and success handoff, dispatch latching, max_cycles.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last two rows are the surprising ones - scenes 6-7 exist for them.
Spoken hook (never on-slide text): 'This table is deliberately incomplete - the demo will show why.' The cheat / sysproof / gensrc tiers are capstone slide C's punchline: attacks forced them into existence. Do not pre-introduce them here.
Same column shape (class -&gt; measured how -&gt; judged by -&gt; repair) as capstone slide B, so the audience recognizes it when it returns.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Section transition into the demo: ~5 seconds, then straight into the isolette slide.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slide IS the section transition into the demo (strip: Demo segment highlighted).
The tiers callout is the bridge: these keys are the glossary's entry keys, and every checklist row in the scenes is one of them.
Spoken line on the why-beat: 'the table you just saw, instantiated.'
Held back on purpose (scene 9's reveal): cheat-tier depth stats - 86 blessed external_body sites, 10 scanned crates.
Numbers verified exact 2026-08-25 (l1a targets, l2 slices, verus term, pub-proof-fn count); provision-dependent - re-verify before recording day.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Beats: readiness gate green -&gt; one full episode -&gt; per-crate checklist all green. Dwell on the final checklist - it is the frame every later refusal is compared against.
Watch-for line doubles as the VO opener over the terminal cut. Full runbook: docs/video_recording_plan.md.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Single benign beat (per user deck edit, restored 2026-08-27): the Table A-12 upper-alarm ceiling widened 102 -&gt; 103 in the shared GUMBO library constant. Beats: appraisal fails, gumbo_library attributed, all else green (dwell: 'sanction, not semantics') -&gt; ruling diff -&gt; bless -&gt; spec-first green -&gt; promote (real codegen; speed-ramp) -&gt; re-proves ALL GREEN; offered diff = the regenerated shared-library constant. The breaking spec beat lives elsewhere (breaking-impl is Act V/scene 2, breaking-contract is Act IV/scene 14), so Act II stays the clean benign-model story.
Watch-for line doubles as the VO opener over the terminal cut. Full runbook: docs/video_recording_plan.md.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Beats: equivalent NORMAL-mode guard rewrite (x&gt;y -&gt; y&lt;x), outside every marker block -&gt; l1a hash moves -&gt; files entry passes via l2 refinement (slices intact) -&gt; the l1b contracts entry stays clean -&gt; confirmation chain RE-VERIFIES the rewrite green. The mirror of Act II's benign spec beat, one artifact class down: a developer-owned region has no blessed bytes to match, so its attested properties are contracts (intact) + provability (re-verified live).
Watch-for line doubles as the VO opener over the terminal cut. Full runbook: docs/video_recording_plan.md.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report emits NO slice for compute_cases realizations, so the weakened REQ_MHS_2 lands between l2 slices. Beats: launder (weaken REQ_MHS_2 ensures + invert impl) -&gt; cargo-verus SUCCEEDS (self-consistent) -&gt; the l1b MARKER tier (a new Copland protocol: readfile_marker_range over every contract-block byte) refuses -&gt; its repair rung splices the golden contract back -&gt; the restored TRUE contract refutes the still-inverted impl: end on the exposed Verus refusal (verus_targ Appraisal was not successful). Discovered while building this demo; the marker-coverage lint now enforces the invariant. Do NOT auto-repair to green - the exposure IS the beat; the impl repair is Act V's ladder. Slide-C candidate row.
Watch-for line doubles as the VO opener over the terminal cut. Full runbook: docs/video_recording_plan.md.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Beats: dummy-bad-impl diff (take the [v]iew - VSCode diff D1 on camera) -&gt; contracts-intact rung exhausts -&gt; impl rung restores crate-scoped -&gt; restart -&gt; re-attested clean.
Watch-for line doubles as the VO opener over the terminal cut. Full runbook: docs/video_recording_plan.md.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Scene 6 beats: three tampers, three attributed refusals (signature -&gt; anchor -&gt; derivability); optionally the flipped-evidence-byte diff on camera. Scene 7 beats: wrapper edit (take the [v]iew, diff D10) -&gt; readiness still passes -&gt; tool hash refutes, every proof cell poisons to ? - dwell, this is the act's money shot. --restore-tools recovery in VO only.
Watch-for line doubles as the VO opener over the terminal cut. Full runbook: docs/video_recording_plan.md.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detector escalation that closes the demo. BEAT 1 (scene 9, axioms): two-grid view - the verus grid all green (cargo-verus succeeds) beside the proof-escape grid refusing the exact crate and naming the construct (ADMIT: assume 0-&gt;1; SMUGGLE: broadcast 0-&gt;1, external_body 0-&gt;1). The CHEAT SCAN catches what the outcome cannot - a construct appeared. BEAT 2 (scene 12, FFI): the heat command inverted behind external_body (diff D18) -&gt; every proof passes AND the cheat scan is SILENT (no construct) -&gt; only the GENSRC byte anchor refuses, naming the file -&gt; diagnosis rung classifies -&gt; repair by regeneration (speed-ramp). Three detectors, three blind spots: outcome (blind to both), construct scan (catches beat 1), byte anchor (catches beat 2). Close naming scenes 10-11 (slide C carries the rest).
Watch-for line doubles as the VO opener over the terminal cut. Full runbook: docs/video_recording_plan.md.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Section transition: ~5 seconds, then the ecosystems card grid.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High-level breadth slide (section 3 opener) - card grid, per user edits 2026-08-30. Four artifact pipelines: the isolette (SysML-&gt;HAMR-&gt;Rust/Verus, the demo, highlighted), AADL-&gt;HAMR-&gt;Slang/Logika (temp-control), standalone Rust/Verus (find-max-verus; AutoVerus + KU Dogtreat repair experiments), and the interactive theorem provers Lean &amp; Rocq (blessed statements, tactic/LLM repair). Title = the artifact pipeline; caption = example system(s). Repair-strategy breadth lands per-card where it defines the ecosystem.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Section transition: ~5 seconds, then the three capstone slides.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Capstone slide 1 of 3 (theme: 'AI in the loop' as the big title, a descriptive caption beneath - B and C reuse the header).
One idea: AI helps everywhere EXCEPT the judges. The top three stages (model, implementation, proofs) are AI-assisted; the bottom two (verification/appraisal, evidence/trust state) are AI-free by design - the shaded band.
The Proofs row is where the repair-strategy breadth lands (deferred from the ecosystems slide): tactic portfolio, LLM (API + desktop sessions), AutoVerus, KU Dogtreat linear planner.
Motivation flip (speaker, sets up the close): as more lifecycle artifacts ARE AI-generated, lifecycle attestation is what makes them trustworthy - provenance and evidence, not provider assurances.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Capstone slide 2 of 3 (theme: 'AI in the loop' big title + caption). The one idea: AI built the entire attestation stack, and that stack is held to the same measured discipline it enforces.
Counts current 2026-08-30: 12 new + 7 upgraded asp-libs binaries (git-attested, separate repo); 42 provisioned Copland protocol dirs (the newest, the l1b marker tier, was built in this very session - a callback available if wanted); 7 red-team attack classes.
cvm-mcp aside (15 s): an AI-built MCP interface so AI agents can drive attestation - AI both built the loop and can drive it.
Git provenance deliberately de-emphasized per user; the point is the self-application (the reflexive footer), not the Co-Authored-By trailers.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Capstone slide 3 of 3 (title 'AI attacked the loop'). The same sessions red-teamed the stack they built; every attack was green across every EXISTING tier when found, and each forced a new measurement capability - defense-in-depth measured into existence.
7 attacks -&gt; 4 measurement capabilities: cheat scan (ADMIT, SMUGGLE), sysproof file hashes (SHRINK, SWAP), gensrc measurement (STALE, INVERT), and the l1b marker tier + coverage lint (LAUNDER, highlighted - found this session).
STALE vs INVERT are two different blind spots of 'verification succeeded': STALE = a stale cached verdict (verified over old bytes); INVERT = unverified code out of the proof's scope. Same detector (gensrc bytes), different evasion.
LAUNDER is the reflexive one: it exposed a COVERAGE gap in the measurement itself (the report emits no compute_cases slice), so it forced a detector PLUS a provisioning invariant. Root cause is upstream (HAMR report emission) - see draft_hamr_report_contract_coverage.md.
Speaker: the escalating lesson of 9-&gt;12 is that 'verification succeeded' and 'no cheats present' are both weaker claims than 'these are the blessed bytes.'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Collection point for every reference in the deck - keep this slide current as sections are added. Numbers follow first on-slide citation ([1] on the lifecycle slide; [2]-[6] on the core-stack slide; [7]-[13] on the isolette slide); groupings kept, so numbers read out of order here on purpose.
DOIs on record in docs/video_slide_drafts.md.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2194560"/>
            <a:ext cx="10972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Lifecycle Attestation with pybb</a:t>
            </a:r>
            <a:pPr algn="l" indent="0" marL="0">
              <a:buNone/>
            </a:pPr>
            <a:r>
              <a:rPr lang="en-US" sz="22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</a:t>
            </a:r>
            <a:pPr algn="l" indent="0" marL="0">
              <a:buNone/>
            </a:pPr>
            <a:r>
              <a:rPr lang="en-US" sz="3600" b="1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</a:t>
            </a:r>
            <a:pPr algn="l" indent="0" marL="0">
              <a:buNone/>
            </a:pPr>
            <a:r>
              <a:rPr lang="en-US" sz="22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thon </a:t>
            </a:r>
            <a:pPr algn="l" indent="0" marL="0">
              <a:buNone/>
            </a:pPr>
            <a:r>
              <a:rPr lang="en-US" sz="3600" b="1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pPr algn="l" indent="0" marL="0">
              <a:buNone/>
            </a:pPr>
            <a:r>
              <a:rPr lang="en-US" sz="22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lack</a:t>
            </a:r>
            <a:pPr algn="l" indent="0" marL="0">
              <a:buNone/>
            </a:pPr>
            <a:r>
              <a:rPr lang="en-US" sz="3600" b="1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pPr algn="l" indent="0" marL="0">
              <a:buNone/>
            </a:pPr>
            <a:r>
              <a:rPr lang="en-US" sz="22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oard)</a:t>
            </a:r>
            <a:endParaRPr lang="en-US" sz="4400" dirty="0"/>
          </a:p>
        </p:txBody>
      </p:sp>
      <p:sp>
        <p:nvSpPr>
          <p:cNvPr id="3" name="Text 1"/>
          <p:cNvSpPr/>
          <p:nvPr/>
        </p:nvSpPr>
        <p:spPr>
          <a:xfrm>
            <a:off x="822960" y="3291840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Measured trust across models, contracts, code, and proofs in </a:t>
            </a:r>
            <a:endParaRPr lang="en-US" sz="2000" dirty="0"/>
          </a:p>
          <a:p>
            <a:pPr algn="ctr" indent="0" marL="0">
              <a:buNone/>
            </a:pPr>
            <a:r>
              <a:rPr lang="en-US" sz="20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 assurance, LLM-assisted development pipelines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822960" y="4754880"/>
            <a:ext cx="10515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Adam Petz</a:t>
            </a:r>
            <a:pPr algn="l" indent="0" marL="0">
              <a:buNone/>
            </a:pPr>
            <a:r>
              <a:rPr lang="en-US" sz="1600" baseline="30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pPr algn="l" indent="0" marL="0">
              <a:buNone/>
            </a:pPr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Isaac Amundson</a:t>
            </a:r>
            <a:pPr algn="l" indent="0" marL="0">
              <a:buNone/>
            </a:pPr>
            <a:r>
              <a:rPr lang="en-US" sz="1600" baseline="30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pPr algn="l" indent="0" marL="0">
              <a:buNone/>
            </a:pPr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Timothy Barclay</a:t>
            </a:r>
            <a:pPr algn="l" indent="0" marL="0">
              <a:buNone/>
            </a:pPr>
            <a:r>
              <a:rPr lang="en-US" sz="1600" baseline="30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pPr algn="l" indent="0" marL="0">
              <a:buNone/>
            </a:pPr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David Hardin</a:t>
            </a:r>
            <a:pPr algn="l" indent="0" marL="0">
              <a:buNone/>
            </a:pPr>
            <a:r>
              <a:rPr lang="en-US" sz="1600" baseline="30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pPr algn="l" indent="0" marL="0">
              <a:buNone/>
            </a:pPr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Jason Belt</a:t>
            </a:r>
            <a:pPr algn="l" indent="0" marL="0">
              <a:buNone/>
            </a:pPr>
            <a:r>
              <a:rPr lang="en-US" sz="1600" baseline="30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pPr algn="l" indent="0" marL="0">
              <a:buNone/>
            </a:pPr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John Hatcliff</a:t>
            </a:r>
            <a:pPr algn="l" indent="0" marL="0">
              <a:buNone/>
            </a:pPr>
            <a:r>
              <a:rPr lang="en-US" sz="1600" baseline="30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pPr algn="l" indent="0" marL="0">
              <a:buNone/>
            </a:pPr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Anakha Krishna</a:t>
            </a:r>
            <a:pPr algn="l" indent="0" marL="0">
              <a:buNone/>
            </a:pPr>
            <a:r>
              <a:rPr lang="en-US" sz="1600" baseline="30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pPr algn="l" indent="0" marL="0">
              <a:buNone/>
            </a:pPr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Ina Harris</a:t>
            </a:r>
            <a:pPr algn="l" indent="0" marL="0">
              <a:buNone/>
            </a:pPr>
            <a:r>
              <a:rPr lang="en-US" sz="1600" baseline="30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pPr algn="l" indent="0" marL="0">
              <a:buNone/>
            </a:pPr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Perry Alexander</a:t>
            </a:r>
            <a:pPr algn="l" indent="0" marL="0">
              <a:buNone/>
            </a:pPr>
            <a:r>
              <a:rPr lang="en-US" sz="1600" baseline="30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822960" y="5669280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aseline="30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pPr algn="l" indent="0" marL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University of Kansas</a:t>
            </a:r>
            <a:pPr algn="l" indent="0" marL="0">
              <a:buNone/>
            </a:pPr>
            <a:r>
              <a:rPr lang="en-US" sz="1300" baseline="30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2</a:t>
            </a:r>
            <a:pPr algn="l" indent="0" marL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Collins Aerospace</a:t>
            </a:r>
            <a:pPr algn="l" indent="0" marL="0">
              <a:buNone/>
            </a:pPr>
            <a:r>
              <a:rPr lang="en-US" sz="1300" baseline="30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3</a:t>
            </a:r>
            <a:pPr algn="l" indent="0" marL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Kansas State University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822960" y="603504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September 2026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5394960" y="6035040"/>
            <a:ext cx="5943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Supported by the DARPA PROVERS effort (contract FA8750-24-9-1000)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Roadmap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640080" y="2834640"/>
            <a:ext cx="2044598" cy="777240"/>
          </a:xfrm>
          <a:prstGeom prst="roundRect">
            <a:avLst>
              <a:gd name="adj" fmla="val 8235"/>
            </a:avLst>
          </a:prstGeom>
          <a:solidFill>
            <a:srgbClr val="1E2761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2834640"/>
            <a:ext cx="2044598" cy="7772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Preliminaries</a:t>
            </a:r>
            <a:endParaRPr lang="en-US" sz="1350" dirty="0"/>
          </a:p>
        </p:txBody>
      </p:sp>
      <p:sp>
        <p:nvSpPr>
          <p:cNvPr id="5" name="Text 3"/>
          <p:cNvSpPr/>
          <p:nvPr/>
        </p:nvSpPr>
        <p:spPr>
          <a:xfrm>
            <a:off x="2629814" y="2834640"/>
            <a:ext cx="274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849270" y="2834640"/>
            <a:ext cx="2044598" cy="777240"/>
          </a:xfrm>
          <a:prstGeom prst="roundRect">
            <a:avLst>
              <a:gd name="adj" fmla="val 8235"/>
            </a:avLst>
          </a:prstGeom>
          <a:solidFill>
            <a:srgbClr val="CADCFC"/>
          </a:solidFill>
          <a:ln/>
        </p:spPr>
      </p:sp>
      <p:sp>
        <p:nvSpPr>
          <p:cNvPr id="7" name="Text 5"/>
          <p:cNvSpPr/>
          <p:nvPr/>
        </p:nvSpPr>
        <p:spPr>
          <a:xfrm>
            <a:off x="2849270" y="2834640"/>
            <a:ext cx="2044598" cy="7772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135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Demo:</a:t>
            </a:r>
            <a:endParaRPr lang="en-US" sz="1350" dirty="0"/>
          </a:p>
          <a:p>
            <a:pPr algn="ctr" indent="0" marL="0">
              <a:buNone/>
            </a:pPr>
            <a:r>
              <a:rPr lang="en-US" sz="135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Isolette (SysMLv2 → Rust)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4839005" y="2834640"/>
            <a:ext cx="274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5058461" y="2834640"/>
            <a:ext cx="2044598" cy="777240"/>
          </a:xfrm>
          <a:prstGeom prst="roundRect">
            <a:avLst>
              <a:gd name="adj" fmla="val 8235"/>
            </a:avLst>
          </a:prstGeom>
          <a:solidFill>
            <a:srgbClr val="CADCFC"/>
          </a:solidFill>
          <a:ln/>
        </p:spPr>
      </p:sp>
      <p:sp>
        <p:nvSpPr>
          <p:cNvPr id="10" name="Text 8"/>
          <p:cNvSpPr/>
          <p:nvPr/>
        </p:nvSpPr>
        <p:spPr>
          <a:xfrm>
            <a:off x="5058461" y="2834640"/>
            <a:ext cx="2044598" cy="7772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135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Other Ecosystems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7048195" y="2834640"/>
            <a:ext cx="274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7267651" y="2834640"/>
            <a:ext cx="2044598" cy="777240"/>
          </a:xfrm>
          <a:prstGeom prst="roundRect">
            <a:avLst>
              <a:gd name="adj" fmla="val 8235"/>
            </a:avLst>
          </a:prstGeom>
          <a:solidFill>
            <a:srgbClr val="CADCFC"/>
          </a:solidFill>
          <a:ln/>
        </p:spPr>
      </p:sp>
      <p:sp>
        <p:nvSpPr>
          <p:cNvPr id="13" name="Text 11"/>
          <p:cNvSpPr/>
          <p:nvPr/>
        </p:nvSpPr>
        <p:spPr>
          <a:xfrm>
            <a:off x="7267651" y="2834640"/>
            <a:ext cx="2044598" cy="7772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135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in the Loop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9257386" y="2834640"/>
            <a:ext cx="274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9476842" y="2834640"/>
            <a:ext cx="2044598" cy="777240"/>
          </a:xfrm>
          <a:prstGeom prst="roundRect">
            <a:avLst>
              <a:gd name="adj" fmla="val 8235"/>
            </a:avLst>
          </a:prstGeom>
          <a:solidFill>
            <a:srgbClr val="CADCFC"/>
          </a:solidFill>
          <a:ln/>
        </p:spPr>
      </p:sp>
      <p:sp>
        <p:nvSpPr>
          <p:cNvPr id="16" name="Text 14"/>
          <p:cNvSpPr/>
          <p:nvPr/>
        </p:nvSpPr>
        <p:spPr>
          <a:xfrm>
            <a:off x="9476842" y="2834640"/>
            <a:ext cx="2044598" cy="7772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135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Close</a:t>
            </a:r>
            <a:endParaRPr lang="en-US" sz="13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is Lifecycle Attestation?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640080" y="1325880"/>
            <a:ext cx="1097280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Traditional remote attestation: did system components boot into a predictable state? (boot-time, static runtime)</a:t>
            </a:r>
            <a:endParaRPr lang="en-US" sz="1700" dirty="0"/>
          </a:p>
          <a:p>
            <a:pPr algn="l" marL="342900" indent="-342900">
              <a:buSzPct val="100000"/>
              <a:buChar char="•"/>
            </a:pPr>
            <a:r>
              <a:rPr lang="en-US" sz="17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Layered, runtime attestation</a:t>
            </a:r>
            <a:pPr algn="l" indent="0" marL="0">
              <a:buNone/>
            </a:pPr>
            <a:r>
              <a:rPr lang="en-US" sz="1700" b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</a:t>
            </a:r>
            <a:pPr algn="l" indent="0" marL="0">
              <a:buNone/>
            </a:pPr>
            <a:r>
              <a:rPr lang="en-US" sz="17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extend boot-time trust via dynamic measurement of system components and their context/dependencies</a:t>
            </a:r>
            <a:pPr algn="l" indent="0" marL="0">
              <a:spcAft>
                <a:spcPts val="1000"/>
              </a:spcAft>
              <a:buNone/>
            </a:pPr>
            <a:r>
              <a:rPr lang="en-US" sz="17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[1]</a:t>
            </a:r>
            <a:endParaRPr lang="en-US" sz="1700" dirty="0"/>
          </a:p>
          <a:p>
            <a:pPr algn="l" marL="342900" indent="-342900">
              <a:buSzPct val="100000"/>
              <a:buChar char="•"/>
            </a:pPr>
            <a:r>
              <a:rPr lang="en-US" sz="17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Lifecycle attestation</a:t>
            </a:r>
            <a:pPr algn="l" indent="0" marL="0">
              <a:buNone/>
            </a:pPr>
            <a:r>
              <a:rPr lang="en-US" sz="1700" b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</a:t>
            </a:r>
            <a:pPr algn="l" indent="0" marL="0">
              <a:buNone/>
            </a:pPr>
            <a:r>
              <a:rPr lang="en-US" sz="17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extends this notion to </a:t>
            </a:r>
            <a:pPr algn="l" indent="0" marL="0">
              <a:buNone/>
            </a:pPr>
            <a:r>
              <a:rPr lang="en-US" sz="1700" b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artifacts of the development lifecycle</a:t>
            </a:r>
            <a:pPr algn="l" indent="0" marL="0">
              <a:spcAft>
                <a:spcPts val="1000"/>
              </a:spcAft>
              <a:buNone/>
            </a:pPr>
            <a:r>
              <a:rPr lang="en-US" sz="17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models, contracts, implementations, proofs, toolchains</a:t>
            </a:r>
            <a:endParaRPr lang="en-US" sz="1700" dirty="0"/>
          </a:p>
          <a:p>
            <a:pPr algn="l" lvl="1" marL="685800" indent="-342900">
              <a:spcAft>
                <a:spcPts val="1000"/>
              </a:spcAft>
              <a:buSzPct val="100000"/>
              <a:buChar char="–"/>
            </a:pPr>
            <a:r>
              <a:rPr lang="en-US" sz="17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…including the attestation infrastructure and evidence itself</a:t>
            </a:r>
            <a:endParaRPr lang="en-US" sz="1700" dirty="0"/>
          </a:p>
          <a:p>
            <a:pPr algn="l" lvl="1" marL="685800" indent="-342900">
              <a:spcAft>
                <a:spcPts val="1000"/>
              </a:spcAft>
              <a:buSzPct val="100000"/>
              <a:buChar char="–"/>
            </a:pPr>
            <a:r>
              <a:rPr lang="en-US" sz="17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…and to natural lifecycle events:</a:t>
            </a:r>
            <a:endParaRPr lang="en-US" sz="1700" dirty="0"/>
          </a:p>
          <a:p>
            <a:pPr algn="l" lvl="2" marL="1028700" indent="-342900">
              <a:spcAft>
                <a:spcPts val="200"/>
              </a:spcAft>
              <a:buSzPct val="100000"/>
              <a:buChar char="▪"/>
            </a:pPr>
            <a:r>
              <a:rPr lang="en-US" sz="17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specification drift </a:t>
            </a:r>
            <a:endParaRPr lang="en-US" sz="1700" dirty="0"/>
          </a:p>
          <a:p>
            <a:pPr algn="l" lvl="2" marL="1028700" indent="-342900">
              <a:spcAft>
                <a:spcPts val="200"/>
              </a:spcAft>
              <a:buSzPct val="100000"/>
              <a:buChar char="▪"/>
            </a:pPr>
            <a:r>
              <a:rPr lang="en-US" sz="17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toolchain updates</a:t>
            </a:r>
            <a:endParaRPr lang="en-US" sz="1700" dirty="0"/>
          </a:p>
          <a:p>
            <a:pPr algn="l" lvl="2" marL="1028700" indent="-342900">
              <a:spcAft>
                <a:spcPts val="200"/>
              </a:spcAft>
              <a:buSzPct val="100000"/>
              <a:buChar char="▪"/>
            </a:pPr>
            <a:r>
              <a:rPr lang="en-US" sz="17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artifact updates, synthesis, repair</a:t>
            </a:r>
            <a:endParaRPr lang="en-US" sz="1700" dirty="0"/>
          </a:p>
          <a:p>
            <a:pPr algn="l" marL="342900" indent="-342900">
              <a:buSzPct val="100000"/>
              <a:buChar char="•"/>
            </a:pPr>
            <a:r>
              <a:rPr lang="en-US" sz="17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Motivation</a:t>
            </a:r>
            <a:pPr algn="l" indent="0" marL="0">
              <a:buNone/>
            </a:pPr>
            <a:r>
              <a:rPr lang="en-US" sz="1700" b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</a:t>
            </a:r>
            <a:pPr algn="l" indent="0" marL="0">
              <a:buNone/>
            </a:pPr>
            <a:r>
              <a:rPr lang="en-US" sz="17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</a:t>
            </a:r>
            <a:pPr algn="l" indent="0" marL="0">
              <a:buNone/>
            </a:pPr>
            <a:r>
              <a:rPr lang="en-US" sz="1700" b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proliferation of AI-generated software artifacts</a:t>
            </a:r>
            <a:pPr algn="l" indent="0" marL="0">
              <a:buNone/>
            </a:pPr>
            <a:r>
              <a:rPr lang="en-US" sz="17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amid the need for </a:t>
            </a:r>
            <a:pPr algn="l" indent="0" marL="0">
              <a:spcAft>
                <a:spcPts val="1000"/>
              </a:spcAft>
              <a:buNone/>
            </a:pPr>
            <a:r>
              <a:rPr lang="en-US" sz="1700" b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rapid re-certification of systems</a:t>
            </a:r>
            <a:endParaRPr lang="en-US" sz="1700" dirty="0"/>
          </a:p>
        </p:txBody>
      </p:sp>
      <p:sp>
        <p:nvSpPr>
          <p:cNvPr id="4" name="Shape 2"/>
          <p:cNvSpPr/>
          <p:nvPr/>
        </p:nvSpPr>
        <p:spPr>
          <a:xfrm>
            <a:off x="640080" y="4901184"/>
            <a:ext cx="10881360" cy="1234440"/>
          </a:xfrm>
          <a:prstGeom prst="roundRect">
            <a:avLst>
              <a:gd name="adj" fmla="val 5926"/>
            </a:avLst>
          </a:prstGeom>
          <a:solidFill>
            <a:srgbClr val="1E2761"/>
          </a:solidFill>
          <a:ln/>
        </p:spPr>
      </p:sp>
      <p:sp>
        <p:nvSpPr>
          <p:cNvPr id="5" name="Text 3"/>
          <p:cNvSpPr/>
          <p:nvPr/>
        </p:nvSpPr>
        <p:spPr>
          <a:xfrm>
            <a:off x="914400" y="4901184"/>
            <a:ext cx="103327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spcAft>
                <a:spcPts val="400"/>
              </a:spcAft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trust decision is grounded in cryptographic attestation evidence.</a:t>
            </a:r>
            <a:endParaRPr lang="en-US" sz="2000" dirty="0"/>
          </a:p>
          <a:p>
            <a:pPr algn="ctr" indent="0" marL="0">
              <a:buNone/>
            </a:pPr>
            <a:r>
              <a:rPr lang="en-US" sz="14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Trust is NOT anchored in the following:  developer claims, untrusted tools, LLM outputs, cached verdicts</a:t>
            </a:r>
            <a:endParaRPr lang="en-US" sz="2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core attestation stack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640080" y="1325880"/>
            <a:ext cx="5760720" cy="1005840"/>
          </a:xfrm>
          <a:prstGeom prst="roundRect">
            <a:avLst>
              <a:gd name="adj" fmla="val 6364"/>
            </a:avLst>
          </a:prstGeom>
          <a:solidFill>
            <a:srgbClr val="1E2761"/>
          </a:solidFill>
          <a:ln/>
        </p:spPr>
      </p:sp>
      <p:sp>
        <p:nvSpPr>
          <p:cNvPr id="4" name="Text 2"/>
          <p:cNvSpPr/>
          <p:nvPr/>
        </p:nvSpPr>
        <p:spPr>
          <a:xfrm>
            <a:off x="868680" y="1325880"/>
            <a:ext cx="53035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Copland</a:t>
            </a:r>
            <a:pPr algn="l" indent="0" marL="0">
              <a:spcAft>
                <a:spcPts val="200"/>
              </a:spcAft>
              <a:buNone/>
            </a:pPr>
            <a:r>
              <a:rPr lang="en-US" sz="17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[2]</a:t>
            </a:r>
            <a:endParaRPr lang="en-US" sz="17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attestation protocols as formal terms with an evidence semantics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3337560" y="2340864"/>
            <a:ext cx="365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A6478"/>
                </a:solidFill>
              </a:rPr>
              <a:t>▼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" y="2606040"/>
            <a:ext cx="5760720" cy="1005840"/>
          </a:xfrm>
          <a:prstGeom prst="roundRect">
            <a:avLst>
              <a:gd name="adj" fmla="val 6364"/>
            </a:avLst>
          </a:prstGeom>
          <a:solidFill>
            <a:srgbClr val="3A4A8C"/>
          </a:solidFill>
          <a:ln/>
        </p:spPr>
      </p:sp>
      <p:sp>
        <p:nvSpPr>
          <p:cNvPr id="7" name="Text 5"/>
          <p:cNvSpPr/>
          <p:nvPr/>
        </p:nvSpPr>
        <p:spPr>
          <a:xfrm>
            <a:off x="868680" y="2606040"/>
            <a:ext cx="53035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Copland Virtual Machine (CVM)</a:t>
            </a:r>
            <a:pPr algn="l" indent="0" marL="0">
              <a:spcAft>
                <a:spcPts val="200"/>
              </a:spcAft>
              <a:buNone/>
            </a:pPr>
            <a:r>
              <a:rPr lang="en-US" sz="17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[3,4]</a:t>
            </a:r>
            <a:endParaRPr lang="en-US" sz="17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executes Copland phrases · dispatches ASPs according to manifest configurations · appraises results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3337560" y="3621024"/>
            <a:ext cx="365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A6478"/>
                </a:solidFill>
              </a:rPr>
              <a:t>▼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640080" y="3886200"/>
            <a:ext cx="5760720" cy="868680"/>
          </a:xfrm>
          <a:prstGeom prst="roundRect">
            <a:avLst>
              <a:gd name="adj" fmla="val 7368"/>
            </a:avLst>
          </a:prstGeom>
          <a:solidFill>
            <a:srgbClr val="56659E"/>
          </a:solidFill>
          <a:ln/>
        </p:spPr>
      </p:sp>
      <p:sp>
        <p:nvSpPr>
          <p:cNvPr id="10" name="Text 8"/>
          <p:cNvSpPr/>
          <p:nvPr/>
        </p:nvSpPr>
        <p:spPr>
          <a:xfrm>
            <a:off x="868680" y="3886200"/>
            <a:ext cx="53035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asp-libs</a:t>
            </a:r>
            <a:pPr algn="l" indent="0" marL="0">
              <a:spcAft>
                <a:spcPts val="200"/>
              </a:spcAft>
              <a:buNone/>
            </a:pPr>
            <a:r>
              <a:rPr lang="en-US" sz="17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[5]</a:t>
            </a:r>
            <a:endParaRPr lang="en-US" sz="17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measurement &amp; appraisal primitives: hash, readfile, signature, golden comparison, …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3337560" y="4764024"/>
            <a:ext cx="365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A6478"/>
                </a:solidFill>
              </a:rPr>
              <a:t>▼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40080" y="5029200"/>
            <a:ext cx="5760720" cy="868680"/>
          </a:xfrm>
          <a:prstGeom prst="roundRect">
            <a:avLst>
              <a:gd name="adj" fmla="val 7368"/>
            </a:avLst>
          </a:prstGeom>
          <a:solidFill>
            <a:srgbClr val="CADCFC"/>
          </a:solidFill>
          <a:ln/>
        </p:spPr>
      </p:sp>
      <p:sp>
        <p:nvSpPr>
          <p:cNvPr id="13" name="Text 11"/>
          <p:cNvSpPr/>
          <p:nvPr/>
        </p:nvSpPr>
        <p:spPr>
          <a:xfrm>
            <a:off x="868680" y="5029200"/>
            <a:ext cx="53035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signed evidence bundles</a:t>
            </a:r>
            <a:pPr algn="l" indent="0" marL="0">
              <a:buNone/>
            </a:pPr>
            <a:r>
              <a:rPr lang="en-US" sz="15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appraised against </a:t>
            </a:r>
            <a:pPr algn="l"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golden baselines</a:t>
            </a:r>
            <a:pPr algn="l" indent="0" marL="0">
              <a:buNone/>
            </a:pPr>
            <a:r>
              <a:rPr lang="en-US" sz="15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[6]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6766560" y="141732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Copland protocol from the demo — the Isolette model class: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6766560" y="1828800"/>
            <a:ext cx="4754880" cy="2286000"/>
          </a:xfrm>
          <a:prstGeom prst="roundRect">
            <a:avLst>
              <a:gd name="adj" fmla="val 2000"/>
            </a:avLst>
          </a:prstGeom>
          <a:solidFill>
            <a:srgbClr val="F2F4F8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995160" y="1828800"/>
            <a:ext cx="429768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 readfile Regulate.sysml</a:t>
            </a:r>
            <a:endParaRPr lang="en-US" sz="1300" dirty="0"/>
          </a:p>
          <a:p>
            <a:pPr algn="l"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+&lt;+ readfile Monitor.sysml</a:t>
            </a:r>
            <a:endParaRPr lang="en-US" sz="1300" dirty="0"/>
          </a:p>
          <a:p>
            <a:pPr algn="l"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+&lt;+ readfile Operator_Interface.sysml</a:t>
            </a:r>
            <a:endParaRPr lang="en-US" sz="1300" dirty="0"/>
          </a:p>
          <a:p>
            <a:pPr algn="l"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+&lt;+ readfile oip_oit_app.rs</a:t>
            </a:r>
            <a:endParaRPr lang="en-US" sz="1300" dirty="0"/>
          </a:p>
          <a:p>
            <a:pPr algn="l"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+&lt;+ readfile GUMBO_Library )</a:t>
            </a:r>
            <a:endParaRPr lang="en-US" sz="1300" dirty="0"/>
          </a:p>
          <a:p>
            <a:pPr algn="l"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-&gt; SIG -&gt; APPR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6766560" y="4206240"/>
            <a:ext cx="475488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i="1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measure five blessed model files → </a:t>
            </a:r>
            <a:endParaRPr lang="en-US" sz="2000" dirty="0"/>
          </a:p>
          <a:p>
            <a:pPr indent="0" marL="0">
              <a:buNone/>
            </a:pPr>
            <a:r>
              <a:rPr lang="en-US" sz="2000" i="1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	sign the evidence (SIG) → </a:t>
            </a:r>
            <a:endParaRPr lang="en-US" sz="2000" dirty="0"/>
          </a:p>
          <a:p>
            <a:pPr indent="0" marL="0">
              <a:buNone/>
            </a:pPr>
            <a:r>
              <a:rPr lang="en-US" sz="2000" i="1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	appraise it (APPR)</a:t>
            </a:r>
            <a:endParaRPr lang="en-US" sz="2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92608"/>
            <a:ext cx="109728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pybb: a blackboard architecture for attestation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3383280" y="1024128"/>
            <a:ext cx="2468880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19050">
            <a:solidFill>
              <a:srgbClr val="1E2761"/>
            </a:solidFill>
            <a:prstDash val="dash"/>
          </a:ln>
        </p:spPr>
      </p:sp>
      <p:sp>
        <p:nvSpPr>
          <p:cNvPr id="4" name="Text 2"/>
          <p:cNvSpPr/>
          <p:nvPr/>
        </p:nvSpPr>
        <p:spPr>
          <a:xfrm>
            <a:off x="3383280" y="1024128"/>
            <a:ext cx="2468880" cy="56692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Administrator blessing</a:t>
            </a:r>
            <a:endParaRPr lang="en-US" sz="1150" dirty="0"/>
          </a:p>
          <a:p>
            <a:pPr algn="ctr" indent="0" marL="0">
              <a:buNone/>
            </a:pPr>
            <a:r>
              <a:rPr lang="en-US" sz="1050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(signs golden spec)</a:t>
            </a:r>
            <a:endParaRPr lang="en-US" sz="1150" dirty="0"/>
          </a:p>
        </p:txBody>
      </p:sp>
      <p:sp>
        <p:nvSpPr>
          <p:cNvPr id="5" name="Shape 3"/>
          <p:cNvSpPr/>
          <p:nvPr/>
        </p:nvSpPr>
        <p:spPr>
          <a:xfrm>
            <a:off x="3931920" y="1591056"/>
            <a:ext cx="914" cy="310896"/>
          </a:xfrm>
          <a:prstGeom prst="line">
            <a:avLst/>
          </a:prstGeom>
          <a:noFill/>
          <a:ln w="19050">
            <a:solidFill>
              <a:srgbClr val="1E2761"/>
            </a:solidFill>
            <a:prstDash val="solid"/>
            <a:tailEnd type="triangle"/>
          </a:ln>
        </p:spPr>
      </p:sp>
      <p:sp>
        <p:nvSpPr>
          <p:cNvPr id="6" name="Shape 4"/>
          <p:cNvSpPr/>
          <p:nvPr/>
        </p:nvSpPr>
        <p:spPr>
          <a:xfrm>
            <a:off x="640080" y="2743200"/>
            <a:ext cx="1554480" cy="914400"/>
          </a:xfrm>
          <a:prstGeom prst="roundRect">
            <a:avLst>
              <a:gd name="adj" fmla="val 6000"/>
            </a:avLst>
          </a:prstGeom>
          <a:solidFill>
            <a:srgbClr val="3A4A8C"/>
          </a:solidFill>
          <a:ln/>
        </p:spPr>
      </p:sp>
      <p:sp>
        <p:nvSpPr>
          <p:cNvPr id="7" name="Text 5"/>
          <p:cNvSpPr/>
          <p:nvPr/>
        </p:nvSpPr>
        <p:spPr>
          <a:xfrm>
            <a:off x="640080" y="2743200"/>
            <a:ext cx="1554480" cy="91440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measurement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2194560" y="3200400"/>
            <a:ext cx="548640" cy="914"/>
          </a:xfrm>
          <a:prstGeom prst="line">
            <a:avLst/>
          </a:prstGeom>
          <a:noFill/>
          <a:ln w="25400">
            <a:solidFill>
              <a:srgbClr val="212121"/>
            </a:solidFill>
            <a:prstDash val="solid"/>
            <a:tailEnd type="triangle"/>
          </a:ln>
        </p:spPr>
      </p:sp>
      <p:sp>
        <p:nvSpPr>
          <p:cNvPr id="9" name="Text 7"/>
          <p:cNvSpPr/>
          <p:nvPr/>
        </p:nvSpPr>
        <p:spPr>
          <a:xfrm>
            <a:off x="2743200" y="1627632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Blackboard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2743200" y="1920240"/>
            <a:ext cx="2377440" cy="731520"/>
          </a:xfrm>
          <a:prstGeom prst="roundRect">
            <a:avLst>
              <a:gd name="adj" fmla="val 7500"/>
            </a:avLst>
          </a:prstGeom>
          <a:solidFill>
            <a:srgbClr val="CADCFC"/>
          </a:solidFill>
          <a:ln/>
        </p:spPr>
      </p:sp>
      <p:sp>
        <p:nvSpPr>
          <p:cNvPr id="11" name="Text 9"/>
          <p:cNvSpPr/>
          <p:nvPr/>
        </p:nvSpPr>
        <p:spPr>
          <a:xfrm>
            <a:off x="2743200" y="1920240"/>
            <a:ext cx="2377440" cy="73152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provision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2743200"/>
            <a:ext cx="2377440" cy="914400"/>
          </a:xfrm>
          <a:prstGeom prst="roundRect">
            <a:avLst>
              <a:gd name="adj" fmla="val 6000"/>
            </a:avLst>
          </a:prstGeom>
          <a:solidFill>
            <a:srgbClr val="1E2761"/>
          </a:solidFill>
          <a:ln/>
        </p:spPr>
      </p:sp>
      <p:sp>
        <p:nvSpPr>
          <p:cNvPr id="13" name="Text 11"/>
          <p:cNvSpPr/>
          <p:nvPr/>
        </p:nvSpPr>
        <p:spPr>
          <a:xfrm>
            <a:off x="2743200" y="2743200"/>
            <a:ext cx="2377440" cy="91440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certify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2743200" y="3749040"/>
            <a:ext cx="2377440" cy="731520"/>
          </a:xfrm>
          <a:prstGeom prst="roundRect">
            <a:avLst>
              <a:gd name="adj" fmla="val 7500"/>
            </a:avLst>
          </a:prstGeom>
          <a:solidFill>
            <a:srgbClr val="CADCFC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0" y="3749040"/>
            <a:ext cx="2377440" cy="73152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A333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escalate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5120640" y="3200400"/>
            <a:ext cx="548640" cy="914"/>
          </a:xfrm>
          <a:prstGeom prst="line">
            <a:avLst/>
          </a:prstGeom>
          <a:noFill/>
          <a:ln w="25400">
            <a:solidFill>
              <a:srgbClr val="212121"/>
            </a:solidFill>
            <a:prstDash val="solid"/>
            <a:tailEnd type="triangle"/>
          </a:ln>
        </p:spPr>
      </p:sp>
      <p:sp>
        <p:nvSpPr>
          <p:cNvPr id="17" name="Shape 15"/>
          <p:cNvSpPr/>
          <p:nvPr/>
        </p:nvSpPr>
        <p:spPr>
          <a:xfrm flipH="1">
            <a:off x="2487168" y="2286000"/>
            <a:ext cx="256032" cy="914"/>
          </a:xfrm>
          <a:prstGeom prst="line">
            <a:avLst/>
          </a:prstGeom>
          <a:noFill/>
          <a:ln w="25400">
            <a:solidFill>
              <a:srgbClr val="A33327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2487168" y="2286000"/>
            <a:ext cx="914" cy="1828800"/>
          </a:xfrm>
          <a:prstGeom prst="line">
            <a:avLst/>
          </a:prstGeom>
          <a:noFill/>
          <a:ln w="25400">
            <a:solidFill>
              <a:srgbClr val="A33327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2487168" y="4114800"/>
            <a:ext cx="256032" cy="914"/>
          </a:xfrm>
          <a:prstGeom prst="line">
            <a:avLst/>
          </a:prstGeom>
          <a:noFill/>
          <a:ln w="25400">
            <a:solidFill>
              <a:srgbClr val="A33327"/>
            </a:solidFill>
            <a:prstDash val="solid"/>
            <a:tailEnd type="triangle"/>
          </a:ln>
        </p:spPr>
      </p:sp>
      <p:sp>
        <p:nvSpPr>
          <p:cNvPr id="20" name="Text 18"/>
          <p:cNvSpPr/>
          <p:nvPr/>
        </p:nvSpPr>
        <p:spPr>
          <a:xfrm>
            <a:off x="1389888" y="3931920"/>
            <a:ext cx="108813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333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fail:  no repair chain =&gt; escalate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 flipH="1">
            <a:off x="1417320" y="2148840"/>
            <a:ext cx="1325880" cy="914"/>
          </a:xfrm>
          <a:prstGeom prst="line">
            <a:avLst/>
          </a:prstGeom>
          <a:noFill/>
          <a:ln w="25400">
            <a:solidFill>
              <a:srgbClr val="2C7A3F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417320" y="2148840"/>
            <a:ext cx="914" cy="566928"/>
          </a:xfrm>
          <a:prstGeom prst="line">
            <a:avLst/>
          </a:prstGeom>
          <a:noFill/>
          <a:ln w="25400">
            <a:solidFill>
              <a:srgbClr val="2C7A3F"/>
            </a:solidFill>
            <a:prstDash val="solid"/>
            <a:tailEnd type="triangle"/>
          </a:ln>
        </p:spPr>
      </p:sp>
      <p:sp>
        <p:nvSpPr>
          <p:cNvPr id="23" name="Text 21"/>
          <p:cNvSpPr/>
          <p:nvPr/>
        </p:nvSpPr>
        <p:spPr>
          <a:xfrm>
            <a:off x="548640" y="182880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2C7A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provisioned ⇒ re-measure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5669280" y="2743200"/>
            <a:ext cx="2011680" cy="914400"/>
          </a:xfrm>
          <a:prstGeom prst="roundRect">
            <a:avLst>
              <a:gd name="adj" fmla="val 6000"/>
            </a:avLst>
          </a:prstGeom>
          <a:solidFill>
            <a:srgbClr val="3A4A8C"/>
          </a:solidFill>
          <a:ln/>
        </p:spPr>
      </p:sp>
      <p:sp>
        <p:nvSpPr>
          <p:cNvPr id="25" name="Text 23"/>
          <p:cNvSpPr/>
          <p:nvPr/>
        </p:nvSpPr>
        <p:spPr>
          <a:xfrm>
            <a:off x="5669280" y="2743200"/>
            <a:ext cx="2011680" cy="91440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Controller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(evaluate = episode)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7680960" y="3200400"/>
            <a:ext cx="548640" cy="914"/>
          </a:xfrm>
          <a:prstGeom prst="line">
            <a:avLst/>
          </a:prstGeom>
          <a:noFill/>
          <a:ln w="25400">
            <a:solidFill>
              <a:srgbClr val="212121"/>
            </a:solidFill>
            <a:prstDash val="solid"/>
            <a:tailEnd type="triangle"/>
          </a:ln>
        </p:spPr>
      </p:sp>
      <p:sp>
        <p:nvSpPr>
          <p:cNvPr id="27" name="Text 25"/>
          <p:cNvSpPr/>
          <p:nvPr/>
        </p:nvSpPr>
        <p:spPr>
          <a:xfrm>
            <a:off x="7498080" y="3246120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dispatch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8229600" y="2743200"/>
            <a:ext cx="1005840" cy="914400"/>
          </a:xfrm>
          <a:prstGeom prst="roundRect">
            <a:avLst>
              <a:gd name="adj" fmla="val 6000"/>
            </a:avLst>
          </a:prstGeom>
          <a:solidFill>
            <a:srgbClr val="1E2761"/>
          </a:solidFill>
          <a:ln/>
        </p:spPr>
      </p:sp>
      <p:sp>
        <p:nvSpPr>
          <p:cNvPr id="29" name="Text 27"/>
          <p:cNvSpPr/>
          <p:nvPr/>
        </p:nvSpPr>
        <p:spPr>
          <a:xfrm>
            <a:off x="8229600" y="2743200"/>
            <a:ext cx="1005840" cy="91440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KS 1</a:t>
            </a:r>
            <a:endParaRPr lang="en-US" sz="1200" dirty="0"/>
          </a:p>
        </p:txBody>
      </p:sp>
      <p:sp>
        <p:nvSpPr>
          <p:cNvPr id="30" name="Shape 28"/>
          <p:cNvSpPr/>
          <p:nvPr/>
        </p:nvSpPr>
        <p:spPr>
          <a:xfrm>
            <a:off x="9235440" y="3200400"/>
            <a:ext cx="365760" cy="914"/>
          </a:xfrm>
          <a:prstGeom prst="line">
            <a:avLst/>
          </a:prstGeom>
          <a:noFill/>
          <a:ln w="25400">
            <a:solidFill>
              <a:srgbClr val="A33327"/>
            </a:solidFill>
            <a:prstDash val="solid"/>
            <a:tailEnd type="triangle"/>
          </a:ln>
        </p:spPr>
      </p:sp>
      <p:sp>
        <p:nvSpPr>
          <p:cNvPr id="31" name="Shape 29"/>
          <p:cNvSpPr/>
          <p:nvPr/>
        </p:nvSpPr>
        <p:spPr>
          <a:xfrm>
            <a:off x="9601200" y="2743200"/>
            <a:ext cx="1005840" cy="914400"/>
          </a:xfrm>
          <a:prstGeom prst="roundRect">
            <a:avLst>
              <a:gd name="adj" fmla="val 6000"/>
            </a:avLst>
          </a:prstGeom>
          <a:solidFill>
            <a:srgbClr val="1E2761"/>
          </a:solidFill>
          <a:ln/>
        </p:spPr>
      </p:sp>
      <p:sp>
        <p:nvSpPr>
          <p:cNvPr id="32" name="Text 30"/>
          <p:cNvSpPr/>
          <p:nvPr/>
        </p:nvSpPr>
        <p:spPr>
          <a:xfrm>
            <a:off x="9601200" y="2743200"/>
            <a:ext cx="1005840" cy="91440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KS 2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10607040" y="3200400"/>
            <a:ext cx="365760" cy="914"/>
          </a:xfrm>
          <a:prstGeom prst="line">
            <a:avLst/>
          </a:prstGeom>
          <a:noFill/>
          <a:ln w="25400">
            <a:solidFill>
              <a:srgbClr val="A33327"/>
            </a:solidFill>
            <a:prstDash val="solid"/>
            <a:tailEnd type="triangle"/>
          </a:ln>
        </p:spPr>
      </p:sp>
      <p:sp>
        <p:nvSpPr>
          <p:cNvPr id="34" name="Shape 32"/>
          <p:cNvSpPr/>
          <p:nvPr/>
        </p:nvSpPr>
        <p:spPr>
          <a:xfrm>
            <a:off x="10972800" y="2743200"/>
            <a:ext cx="1005840" cy="914400"/>
          </a:xfrm>
          <a:prstGeom prst="roundRect">
            <a:avLst>
              <a:gd name="adj" fmla="val 6000"/>
            </a:avLst>
          </a:prstGeom>
          <a:solidFill>
            <a:srgbClr val="1E2761"/>
          </a:solidFill>
          <a:ln/>
        </p:spPr>
      </p:sp>
      <p:sp>
        <p:nvSpPr>
          <p:cNvPr id="35" name="Text 33"/>
          <p:cNvSpPr/>
          <p:nvPr/>
        </p:nvSpPr>
        <p:spPr>
          <a:xfrm>
            <a:off x="10972800" y="2743200"/>
            <a:ext cx="1005840" cy="91440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KS n</a:t>
            </a:r>
            <a:endParaRPr lang="en-US" sz="1200" dirty="0"/>
          </a:p>
        </p:txBody>
      </p:sp>
      <p:sp>
        <p:nvSpPr>
          <p:cNvPr id="36" name="Text 34"/>
          <p:cNvSpPr/>
          <p:nvPr/>
        </p:nvSpPr>
        <p:spPr>
          <a:xfrm>
            <a:off x="7763256" y="3767328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A333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on-fail: handoff to next repair KS 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A333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(attempts spent, changes restored)</a:t>
            </a:r>
            <a:endParaRPr lang="en-US" sz="1050" dirty="0"/>
          </a:p>
        </p:txBody>
      </p:sp>
      <p:sp>
        <p:nvSpPr>
          <p:cNvPr id="37" name="Shape 35"/>
          <p:cNvSpPr/>
          <p:nvPr/>
        </p:nvSpPr>
        <p:spPr>
          <a:xfrm flipV="1">
            <a:off x="8732520" y="2103120"/>
            <a:ext cx="914" cy="640080"/>
          </a:xfrm>
          <a:prstGeom prst="line">
            <a:avLst/>
          </a:prstGeom>
          <a:noFill/>
          <a:ln w="25400">
            <a:solidFill>
              <a:srgbClr val="2C7A3F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 flipV="1">
            <a:off x="10104120" y="2103120"/>
            <a:ext cx="914" cy="640080"/>
          </a:xfrm>
          <a:prstGeom prst="line">
            <a:avLst/>
          </a:prstGeom>
          <a:noFill/>
          <a:ln w="25400">
            <a:solidFill>
              <a:srgbClr val="2C7A3F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 flipV="1">
            <a:off x="11475720" y="2103120"/>
            <a:ext cx="914" cy="640080"/>
          </a:xfrm>
          <a:prstGeom prst="line">
            <a:avLst/>
          </a:prstGeom>
          <a:noFill/>
          <a:ln w="25400">
            <a:solidFill>
              <a:srgbClr val="2C7A3F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6675120" y="2103120"/>
            <a:ext cx="4800600" cy="914"/>
          </a:xfrm>
          <a:prstGeom prst="line">
            <a:avLst/>
          </a:prstGeom>
          <a:noFill/>
          <a:ln w="25400">
            <a:solidFill>
              <a:srgbClr val="2C7A3F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6675120" y="2103120"/>
            <a:ext cx="914" cy="594360"/>
          </a:xfrm>
          <a:prstGeom prst="line">
            <a:avLst/>
          </a:prstGeom>
          <a:noFill/>
          <a:ln w="25400">
            <a:solidFill>
              <a:srgbClr val="2C7A3F"/>
            </a:solidFill>
            <a:prstDash val="solid"/>
            <a:tailEnd type="triangle"/>
          </a:ln>
        </p:spPr>
      </p:sp>
      <p:sp>
        <p:nvSpPr>
          <p:cNvPr id="42" name="Text 40"/>
          <p:cNvSpPr/>
          <p:nvPr/>
        </p:nvSpPr>
        <p:spPr>
          <a:xfrm>
            <a:off x="6025896" y="1755648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2C7A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on-pass: restart-episode ⇒ fresh measurement</a:t>
            </a:r>
            <a:endParaRPr lang="en-US" sz="1100" dirty="0"/>
          </a:p>
        </p:txBody>
      </p:sp>
      <p:sp>
        <p:nvSpPr>
          <p:cNvPr id="43" name="Shape 41"/>
          <p:cNvSpPr/>
          <p:nvPr/>
        </p:nvSpPr>
        <p:spPr>
          <a:xfrm>
            <a:off x="11475720" y="3657600"/>
            <a:ext cx="914" cy="1051560"/>
          </a:xfrm>
          <a:prstGeom prst="line">
            <a:avLst/>
          </a:prstGeom>
          <a:noFill/>
          <a:ln w="25400">
            <a:solidFill>
              <a:srgbClr val="A33327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3931920" y="4709160"/>
            <a:ext cx="7543800" cy="914"/>
          </a:xfrm>
          <a:prstGeom prst="line">
            <a:avLst/>
          </a:prstGeom>
          <a:noFill/>
          <a:ln w="25400">
            <a:solidFill>
              <a:srgbClr val="A33327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 flipV="1">
            <a:off x="3931920" y="4498848"/>
            <a:ext cx="914" cy="210312"/>
          </a:xfrm>
          <a:prstGeom prst="line">
            <a:avLst/>
          </a:prstGeom>
          <a:noFill/>
          <a:ln w="25400">
            <a:solidFill>
              <a:srgbClr val="A33327"/>
            </a:solidFill>
            <a:prstDash val="solid"/>
            <a:tailEnd type="triangle"/>
          </a:ln>
        </p:spPr>
      </p:sp>
      <p:sp>
        <p:nvSpPr>
          <p:cNvPr id="46" name="Text 44"/>
          <p:cNvSpPr/>
          <p:nvPr/>
        </p:nvSpPr>
        <p:spPr>
          <a:xfrm>
            <a:off x="6766560" y="4773168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333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rungs exhausted → escalate</a:t>
            </a:r>
            <a:endParaRPr lang="en-US" sz="1100" dirty="0"/>
          </a:p>
        </p:txBody>
      </p:sp>
      <p:sp>
        <p:nvSpPr>
          <p:cNvPr id="47" name="Shape 45"/>
          <p:cNvSpPr/>
          <p:nvPr/>
        </p:nvSpPr>
        <p:spPr>
          <a:xfrm>
            <a:off x="6400800" y="3657600"/>
            <a:ext cx="914" cy="1828800"/>
          </a:xfrm>
          <a:prstGeom prst="line">
            <a:avLst/>
          </a:prstGeom>
          <a:noFill/>
          <a:ln w="19050">
            <a:solidFill>
              <a:srgbClr val="212121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1417320" y="5486400"/>
            <a:ext cx="4983480" cy="914"/>
          </a:xfrm>
          <a:prstGeom prst="line">
            <a:avLst/>
          </a:prstGeom>
          <a:noFill/>
          <a:ln w="19050">
            <a:solidFill>
              <a:srgbClr val="212121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 flipV="1">
            <a:off x="1417320" y="3675888"/>
            <a:ext cx="914" cy="1810512"/>
          </a:xfrm>
          <a:prstGeom prst="line">
            <a:avLst/>
          </a:prstGeom>
          <a:noFill/>
          <a:ln w="19050">
            <a:solidFill>
              <a:srgbClr val="212121"/>
            </a:solidFill>
            <a:prstDash val="solid"/>
            <a:tailEnd type="triangle"/>
          </a:ln>
        </p:spPr>
      </p:sp>
      <p:sp>
        <p:nvSpPr>
          <p:cNvPr id="50" name="Text 48"/>
          <p:cNvSpPr/>
          <p:nvPr/>
        </p:nvSpPr>
        <p:spPr>
          <a:xfrm>
            <a:off x="2377440" y="5541264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evaluate ⇒ run measurement</a:t>
            </a:r>
            <a:endParaRPr lang="en-US" sz="1100" dirty="0"/>
          </a:p>
        </p:txBody>
      </p:sp>
      <p:sp>
        <p:nvSpPr>
          <p:cNvPr id="51" name="Shape 49"/>
          <p:cNvSpPr/>
          <p:nvPr/>
        </p:nvSpPr>
        <p:spPr>
          <a:xfrm>
            <a:off x="640080" y="5989320"/>
            <a:ext cx="8138160" cy="731520"/>
          </a:xfrm>
          <a:prstGeom prst="roundRect">
            <a:avLst>
              <a:gd name="adj" fmla="val 8750"/>
            </a:avLst>
          </a:prstGeom>
          <a:solidFill>
            <a:srgbClr val="1E2761"/>
          </a:solidFill>
          <a:ln/>
        </p:spPr>
      </p:sp>
      <p:sp>
        <p:nvSpPr>
          <p:cNvPr id="52" name="Text 50"/>
          <p:cNvSpPr/>
          <p:nvPr/>
        </p:nvSpPr>
        <p:spPr>
          <a:xfrm>
            <a:off x="868680" y="5989320"/>
            <a:ext cx="7680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repair ladder: </a:t>
            </a:r>
            <a:pPr algn="l" indent="0" marL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rung's exhaustion is a </a:t>
            </a:r>
            <a:pPr algn="l" indent="0" marL="0">
              <a:buNone/>
            </a:pPr>
            <a:r>
              <a:rPr lang="en-US" sz="1300" b="1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 diagnosis </a:t>
            </a:r>
            <a:pPr algn="l" indent="0" marL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failure— every repair is </a:t>
            </a:r>
            <a:endParaRPr lang="en-US" sz="1300" dirty="0"/>
          </a:p>
          <a:p>
            <a:pPr algn="l" indent="0" marL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judged only by </a:t>
            </a:r>
            <a:pPr algn="l" indent="0" marL="0">
              <a:buNone/>
            </a:pPr>
            <a:r>
              <a:rPr lang="en-US" sz="1300" b="1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fresh re-measurement</a:t>
            </a:r>
            <a:pPr algn="l" indent="0" marL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3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pybb: key components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640080" y="1371600"/>
            <a:ext cx="10972800" cy="5212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Blackboard</a:t>
            </a:r>
            <a:pPr algn="l" indent="0" marL="0">
              <a:spcAft>
                <a:spcPts val="900"/>
              </a:spcAft>
              <a:buNone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a collection of entries:  the shared measurement store updated cooperatively by blackboard components</a:t>
            </a:r>
            <a:endParaRPr lang="en-US" sz="1600" dirty="0"/>
          </a:p>
          <a:p>
            <a:pPr algn="l" marL="342900" indent="-342900">
              <a:buSzPct val="100000"/>
              <a:buChar char="•"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Blackboard Entry (Key)</a:t>
            </a:r>
            <a:pPr algn="l" indent="0" marL="0">
              <a:spcAft>
                <a:spcPts val="900"/>
              </a:spcAft>
              <a:buNone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a measurement under judgment:  its measurement content, current standing, repair history</a:t>
            </a:r>
            <a:endParaRPr lang="en-US" sz="1600" dirty="0"/>
          </a:p>
          <a:p>
            <a:pPr algn="l" marL="342900" indent="-342900">
              <a:buSzPct val="100000"/>
              <a:buChar char="•"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Episode</a:t>
            </a:r>
            <a:pPr algn="l" indent="0" marL="0">
              <a:spcAft>
                <a:spcPts val="900"/>
              </a:spcAft>
              <a:buNone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one full judgment of an entry: attestation records verdicts, must be restarted for fresh measurement</a:t>
            </a:r>
            <a:endParaRPr lang="en-US" sz="1600" dirty="0"/>
          </a:p>
          <a:p>
            <a:pPr algn="l" marL="342900" indent="-342900">
              <a:buSzPct val="100000"/>
              <a:buChar char="•"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Partition</a:t>
            </a:r>
            <a:pPr algn="l" indent="0" marL="0">
              <a:spcAft>
                <a:spcPts val="900"/>
              </a:spcAft>
              <a:buNone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the division of blackboard entries among different workflow stages (i.e. provision, certify, escalate) </a:t>
            </a:r>
            <a:endParaRPr lang="en-US" sz="1600" dirty="0"/>
          </a:p>
          <a:p>
            <a:pPr algn="l" marL="342900" indent="-342900">
              <a:buSzPct val="100000"/>
              <a:buChar char="•"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Controller</a:t>
            </a:r>
            <a:pPr algn="l" indent="0" marL="0">
              <a:spcAft>
                <a:spcPts val="900"/>
              </a:spcAft>
              <a:buNone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evaluates every entry (once provisioned), dispatches keys onto outcome-routed chains, advances or hands off, escalates, halts only when entries are in good standing</a:t>
            </a:r>
            <a:endParaRPr lang="en-US" sz="1600" dirty="0"/>
          </a:p>
          <a:p>
            <a:pPr algn="l" marL="342900" indent="-342900">
              <a:buSzPct val="100000"/>
              <a:buChar char="•"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Knowledge source (KS)</a:t>
            </a:r>
            <a:pPr algn="l" indent="0" marL="0">
              <a:spcAft>
                <a:spcPts val="900"/>
              </a:spcAft>
              <a:buNone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operates only on entries in its partition (optionally a single component), bounded by max attempts; its work is always re-judged, never trusted</a:t>
            </a:r>
            <a:endParaRPr lang="en-US" sz="1600" dirty="0"/>
          </a:p>
          <a:p>
            <a:pPr algn="l" marL="342900" indent="-342900">
              <a:buSzPct val="100000"/>
              <a:buChar char="•"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Route</a:t>
            </a:r>
            <a:pPr algn="l" indent="0" marL="0">
              <a:buNone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the per-key control flow chains: </a:t>
            </a:r>
            <a:pPr algn="l" indent="0" marL="0">
              <a:buNone/>
            </a:pPr>
            <a:r>
              <a:rPr lang="en-US" sz="1600" dirty="0">
                <a:solidFill>
                  <a:srgbClr val="21212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on_fail </a:t>
            </a:r>
            <a:pPr algn="l" indent="0" marL="0">
              <a:buNone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= the repair ladder, </a:t>
            </a:r>
            <a:pPr algn="l" indent="0" marL="0">
              <a:buNone/>
            </a:pPr>
            <a:r>
              <a:rPr lang="en-US" sz="1600" dirty="0">
                <a:solidFill>
                  <a:srgbClr val="21212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on_pass </a:t>
            </a:r>
            <a:pPr algn="l" indent="0" marL="0">
              <a:spcAft>
                <a:spcPts val="900"/>
              </a:spcAft>
              <a:buNone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= a confirmation chain before good standing</a:t>
            </a:r>
            <a:endParaRPr lang="en-US" sz="1600" dirty="0"/>
          </a:p>
          <a:p>
            <a:pPr algn="l" marL="342900" indent="-342900">
              <a:buSzPct val="100000"/>
              <a:buChar char="•"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History / Ledger</a:t>
            </a:r>
            <a:pPr algn="l" indent="0" marL="0">
              <a:spcAft>
                <a:spcPts val="900"/>
              </a:spcAft>
              <a:buNone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the blackboard's running record of every change across all partitions (measurements, repairs, verdicts), documenting the audit trail of the repair lifecycle</a:t>
            </a:r>
            <a:endParaRPr lang="en-US" sz="16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Artifact classes</a:t>
            </a:r>
            <a:endParaRPr lang="en-US" sz="34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417320"/>
          <a:ext cx="10881360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2651760"/>
                <a:gridCol w="3017520"/>
                <a:gridCol w="3017520"/>
              </a:tblGrid>
              <a:tr h="6583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Artifact Class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Measured how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Judged by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Repair type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Model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whole-file hash of spec files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appraisal vs the signed golden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restore from golden — or </a:t>
                      </a:r>
                      <a:pPr algn="l" indent="0" marL="0">
                        <a:buNone/>
                      </a:pPr>
                      <a:r>
                        <a:rPr lang="en-US" sz="1250" i="1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bless</a:t>
                      </a:r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(sanctioned change)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Contract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syntax-guided file slices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slice-level appraisal, attributed by name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restore golden slice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Implementation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developer-owned code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tests + verification of contracts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code synthesis/repair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Proof / Verification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live verification run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verification kernel — fresh, never cached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proof synthesis/repair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Toolchain </a:t>
                      </a:r>
                      <a:pPr algn="l" indent="0" marL="0">
                        <a:buNone/>
                      </a:pPr>
                      <a:r>
                        <a:rPr lang="en-US" sz="1100" i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(cross-cutting)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hashed </a:t>
                      </a:r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measure-then-use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 tool hash(es), taken in the same term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out-of-band or pre-sanctioned restore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Trust state </a:t>
                      </a:r>
                      <a:pPr algn="l" indent="0" marL="0">
                        <a:buNone/>
                      </a:pPr>
                      <a:r>
                        <a:rPr lang="en-US" sz="1100" i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(cross-cutting)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bundles, goldens, signatures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appraisal vs the signed golden or derived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principled refusal</a:t>
                      </a:r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— out-of-band re-bless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Roadmap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640080" y="2834640"/>
            <a:ext cx="2044598" cy="777240"/>
          </a:xfrm>
          <a:prstGeom prst="roundRect">
            <a:avLst>
              <a:gd name="adj" fmla="val 8235"/>
            </a:avLst>
          </a:prstGeom>
          <a:solidFill>
            <a:srgbClr val="CADCFC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2834640"/>
            <a:ext cx="2044598" cy="7772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135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Preliminaries</a:t>
            </a:r>
            <a:endParaRPr lang="en-US" sz="1350" dirty="0"/>
          </a:p>
        </p:txBody>
      </p:sp>
      <p:sp>
        <p:nvSpPr>
          <p:cNvPr id="5" name="Text 3"/>
          <p:cNvSpPr/>
          <p:nvPr/>
        </p:nvSpPr>
        <p:spPr>
          <a:xfrm>
            <a:off x="2629814" y="2834640"/>
            <a:ext cx="274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849270" y="2834640"/>
            <a:ext cx="2044598" cy="777240"/>
          </a:xfrm>
          <a:prstGeom prst="roundRect">
            <a:avLst>
              <a:gd name="adj" fmla="val 8235"/>
            </a:avLst>
          </a:prstGeom>
          <a:solidFill>
            <a:srgbClr val="1E2761"/>
          </a:solidFill>
          <a:ln/>
        </p:spPr>
      </p:sp>
      <p:sp>
        <p:nvSpPr>
          <p:cNvPr id="7" name="Text 5"/>
          <p:cNvSpPr/>
          <p:nvPr/>
        </p:nvSpPr>
        <p:spPr>
          <a:xfrm>
            <a:off x="2849270" y="2834640"/>
            <a:ext cx="2044598" cy="7772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Demo:</a:t>
            </a:r>
            <a:endParaRPr lang="en-US" sz="1350" dirty="0"/>
          </a:p>
          <a:p>
            <a:pPr algn="ctr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Isolette (SysMLv2 → Rust)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4839005" y="2834640"/>
            <a:ext cx="274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5058461" y="2834640"/>
            <a:ext cx="2044598" cy="777240"/>
          </a:xfrm>
          <a:prstGeom prst="roundRect">
            <a:avLst>
              <a:gd name="adj" fmla="val 8235"/>
            </a:avLst>
          </a:prstGeom>
          <a:solidFill>
            <a:srgbClr val="CADCFC"/>
          </a:solidFill>
          <a:ln/>
        </p:spPr>
      </p:sp>
      <p:sp>
        <p:nvSpPr>
          <p:cNvPr id="10" name="Text 8"/>
          <p:cNvSpPr/>
          <p:nvPr/>
        </p:nvSpPr>
        <p:spPr>
          <a:xfrm>
            <a:off x="5058461" y="2834640"/>
            <a:ext cx="2044598" cy="7772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135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Other Ecosystems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7048195" y="2834640"/>
            <a:ext cx="274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7267651" y="2834640"/>
            <a:ext cx="2044598" cy="777240"/>
          </a:xfrm>
          <a:prstGeom prst="roundRect">
            <a:avLst>
              <a:gd name="adj" fmla="val 8235"/>
            </a:avLst>
          </a:prstGeom>
          <a:solidFill>
            <a:srgbClr val="CADCFC"/>
          </a:solidFill>
          <a:ln/>
        </p:spPr>
      </p:sp>
      <p:sp>
        <p:nvSpPr>
          <p:cNvPr id="13" name="Text 11"/>
          <p:cNvSpPr/>
          <p:nvPr/>
        </p:nvSpPr>
        <p:spPr>
          <a:xfrm>
            <a:off x="7267651" y="2834640"/>
            <a:ext cx="2044598" cy="7772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135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in the Loop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9257386" y="2834640"/>
            <a:ext cx="274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9476842" y="2834640"/>
            <a:ext cx="2044598" cy="777240"/>
          </a:xfrm>
          <a:prstGeom prst="roundRect">
            <a:avLst>
              <a:gd name="adj" fmla="val 8235"/>
            </a:avLst>
          </a:prstGeom>
          <a:solidFill>
            <a:srgbClr val="CADCFC"/>
          </a:solidFill>
          <a:ln/>
        </p:spPr>
      </p:sp>
      <p:sp>
        <p:nvSpPr>
          <p:cNvPr id="16" name="Text 14"/>
          <p:cNvSpPr/>
          <p:nvPr/>
        </p:nvSpPr>
        <p:spPr>
          <a:xfrm>
            <a:off x="9476842" y="2834640"/>
            <a:ext cx="2044598" cy="7772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135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Close</a:t>
            </a:r>
            <a:endParaRPr lang="en-US" sz="13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950976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Isolette Example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566928" y="1810512"/>
            <a:ext cx="6153912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350" b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system: </a:t>
            </a:r>
            <a:pPr algn="l" indent="0" marL="0">
              <a:buNone/>
            </a:pPr>
            <a:r>
              <a:rPr lang="en-US" sz="13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infant-incubator thermostat that regulates and monitors a newborn's environment to maintain a safe temperature range (heat control on/off)</a:t>
            </a:r>
            <a:pPr algn="l" indent="0" marL="0">
              <a:spcAft>
                <a:spcPts val="200"/>
              </a:spcAft>
              <a:buNone/>
            </a:pPr>
            <a:r>
              <a:rPr lang="en-US" sz="135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[7]</a:t>
            </a:r>
            <a:endParaRPr lang="en-US" sz="1350" dirty="0"/>
          </a:p>
          <a:p>
            <a:pPr marL="628650" lvl="1" indent="-171450">
              <a:spcAft>
                <a:spcPts val="1000"/>
              </a:spcAft>
              <a:buFont typeface="Courier New" panose="02070309020205020404" pitchFamily="49" charset="0"/>
              <a:buChar char="o"/>
            </a:pPr>
            <a:r>
              <a:rPr lang="en-US" sz="1100" i="1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requirements traceable to FAA AR-08-32 [10] (the REQ-MHS-* family the scenes will tamper with)</a:t>
            </a:r>
            <a:endParaRPr lang="en-US" sz="1350" dirty="0"/>
          </a:p>
          <a:p>
            <a:pPr algn="l" marL="342900" indent="-342900">
              <a:buSzPct val="100000"/>
              <a:buChar char="•"/>
            </a:pPr>
            <a:r>
              <a:rPr lang="en-US" sz="1350" b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relevance: </a:t>
            </a:r>
            <a:pPr algn="l" indent="0" marL="0">
              <a:buNone/>
            </a:pPr>
            <a:r>
              <a:rPr lang="en-US" sz="13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INSPECTA program's seL4/Microkit HAMR-based pipeline</a:t>
            </a:r>
            <a:pPr algn="l" indent="0" marL="0">
              <a:spcAft>
                <a:spcPts val="200"/>
              </a:spcAft>
              <a:buNone/>
            </a:pPr>
            <a:r>
              <a:rPr lang="en-US" sz="135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[11]</a:t>
            </a:r>
            <a:endParaRPr lang="en-US" sz="1350" dirty="0"/>
          </a:p>
          <a:p>
            <a:pPr marL="800100" lvl="1" indent="-342900">
              <a:buSzPct val="100000"/>
              <a:buFont typeface="Courier New" panose="02070309020205020404" pitchFamily="49" charset="0"/>
              <a:buChar char="o"/>
            </a:pPr>
            <a:r>
              <a:rPr lang="en-US" sz="13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current, safety-critical development artifact, not a toy example</a:t>
            </a:r>
            <a:endParaRPr lang="en-US" sz="1350" dirty="0"/>
          </a:p>
        </p:txBody>
      </p:sp>
      <p:sp>
        <p:nvSpPr>
          <p:cNvPr id="4" name="Shape 2"/>
          <p:cNvSpPr/>
          <p:nvPr/>
        </p:nvSpPr>
        <p:spPr>
          <a:xfrm>
            <a:off x="640080" y="3630168"/>
            <a:ext cx="1275588" cy="777240"/>
          </a:xfrm>
          <a:prstGeom prst="roundRect">
            <a:avLst>
              <a:gd name="adj" fmla="val 7059"/>
            </a:avLst>
          </a:prstGeom>
          <a:solidFill>
            <a:srgbClr val="3A4A8C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3630168"/>
            <a:ext cx="1275588" cy="7772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SysMLv2 model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GUMBO contracts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1879092" y="3630168"/>
            <a:ext cx="38404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2226564" y="3630168"/>
            <a:ext cx="1275588" cy="777240"/>
          </a:xfrm>
          <a:prstGeom prst="roundRect">
            <a:avLst>
              <a:gd name="adj" fmla="val 7059"/>
            </a:avLst>
          </a:prstGeom>
          <a:solidFill>
            <a:srgbClr val="3A4A8C"/>
          </a:solidFill>
          <a:ln/>
        </p:spPr>
      </p:sp>
      <p:sp>
        <p:nvSpPr>
          <p:cNvPr id="8" name="Text 6"/>
          <p:cNvSpPr/>
          <p:nvPr/>
        </p:nvSpPr>
        <p:spPr>
          <a:xfrm>
            <a:off x="2226564" y="3630168"/>
            <a:ext cx="1275588" cy="7772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HAMR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codegen</a:t>
            </a:r>
            <a:pPr algn="ctr" indent="0" marL="0">
              <a:buNone/>
            </a:pPr>
            <a:r>
              <a:rPr lang="en-US" sz="10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[8,9]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3465576" y="3630168"/>
            <a:ext cx="38404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3813048" y="3630168"/>
            <a:ext cx="1275588" cy="777240"/>
          </a:xfrm>
          <a:prstGeom prst="roundRect">
            <a:avLst>
              <a:gd name="adj" fmla="val 7059"/>
            </a:avLst>
          </a:prstGeom>
          <a:solidFill>
            <a:srgbClr val="3A4A8C"/>
          </a:solidFill>
          <a:ln/>
        </p:spPr>
      </p:sp>
      <p:sp>
        <p:nvSpPr>
          <p:cNvPr id="11" name="Text 9"/>
          <p:cNvSpPr/>
          <p:nvPr/>
        </p:nvSpPr>
        <p:spPr>
          <a:xfrm>
            <a:off x="3813048" y="3630168"/>
            <a:ext cx="1275588" cy="7772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Verus-verified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Rust</a:t>
            </a:r>
            <a:pPr algn="ctr" indent="0" marL="0">
              <a:buNone/>
            </a:pPr>
            <a:r>
              <a:rPr lang="en-US" sz="10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[12]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5052060" y="3630168"/>
            <a:ext cx="38404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5399532" y="3630168"/>
            <a:ext cx="1275588" cy="777240"/>
          </a:xfrm>
          <a:prstGeom prst="roundRect">
            <a:avLst>
              <a:gd name="adj" fmla="val 7059"/>
            </a:avLst>
          </a:prstGeom>
          <a:solidFill>
            <a:srgbClr val="3A4A8C"/>
          </a:solidFill>
          <a:ln/>
        </p:spPr>
      </p:sp>
      <p:sp>
        <p:nvSpPr>
          <p:cNvPr id="14" name="Text 12"/>
          <p:cNvSpPr/>
          <p:nvPr/>
        </p:nvSpPr>
        <p:spPr>
          <a:xfrm>
            <a:off x="5399532" y="3630168"/>
            <a:ext cx="1275588" cy="7772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seL4 + Microkit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target</a:t>
            </a:r>
            <a:pPr algn="ctr" indent="0" marL="0">
              <a:buNone/>
            </a:pPr>
            <a:r>
              <a:rPr lang="en-US" sz="10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[13]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640080" y="5029200"/>
            <a:ext cx="6035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350" b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this example: </a:t>
            </a:r>
            <a:pPr algn="l" indent="0" marL="0">
              <a:buNone/>
            </a:pPr>
            <a:r>
              <a:rPr lang="en-US" sz="13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artifact class from the previous slide is present and measured — blessed model, generated contracts, developer-owned implementation, machine-checked proofs, pinned toolchain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7040880" y="1627632"/>
            <a:ext cx="4480560" cy="676656"/>
          </a:xfrm>
          <a:prstGeom prst="roundRect">
            <a:avLst>
              <a:gd name="adj" fmla="val 8108"/>
            </a:avLst>
          </a:prstGeom>
          <a:solidFill>
            <a:srgbClr val="F2F4F8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178040" y="1627632"/>
            <a:ext cx="12344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13</a:t>
            </a:r>
            <a:endParaRPr lang="en-US" sz="2600" dirty="0"/>
          </a:p>
        </p:txBody>
      </p:sp>
      <p:sp>
        <p:nvSpPr>
          <p:cNvPr id="18" name="Text 16"/>
          <p:cNvSpPr/>
          <p:nvPr/>
        </p:nvSpPr>
        <p:spPr>
          <a:xfrm>
            <a:off x="8119872" y="1627632"/>
            <a:ext cx="335584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measured files (SysMLv2 packages, Verus-contract-bearing Rust)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7040880" y="2377440"/>
            <a:ext cx="4480560" cy="676656"/>
          </a:xfrm>
          <a:prstGeom prst="roundRect">
            <a:avLst>
              <a:gd name="adj" fmla="val 8108"/>
            </a:avLst>
          </a:prstGeom>
          <a:solidFill>
            <a:srgbClr val="F2F4F8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178040" y="2377440"/>
            <a:ext cx="12344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67</a:t>
            </a:r>
            <a:endParaRPr lang="en-US" sz="2600" dirty="0"/>
          </a:p>
        </p:txBody>
      </p:sp>
      <p:sp>
        <p:nvSpPr>
          <p:cNvPr id="21" name="Text 19"/>
          <p:cNvSpPr/>
          <p:nvPr/>
        </p:nvSpPr>
        <p:spPr>
          <a:xfrm>
            <a:off x="8458200" y="2377440"/>
            <a:ext cx="301752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contract slices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7040880" y="3127248"/>
            <a:ext cx="4480560" cy="676656"/>
          </a:xfrm>
          <a:prstGeom prst="roundRect">
            <a:avLst>
              <a:gd name="adj" fmla="val 8108"/>
            </a:avLst>
          </a:prstGeom>
          <a:solidFill>
            <a:srgbClr val="F2F4F8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178040" y="3127248"/>
            <a:ext cx="12344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</a:t>
            </a:r>
            <a:endParaRPr lang="en-US" sz="2600" dirty="0"/>
          </a:p>
        </p:txBody>
      </p:sp>
      <p:sp>
        <p:nvSpPr>
          <p:cNvPr id="24" name="Text 22"/>
          <p:cNvSpPr/>
          <p:nvPr/>
        </p:nvSpPr>
        <p:spPr>
          <a:xfrm>
            <a:off x="8458200" y="3127248"/>
            <a:ext cx="301752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crates re-verified every episode (7 components and the system-level proof)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7040880" y="3877056"/>
            <a:ext cx="4480560" cy="676656"/>
          </a:xfrm>
          <a:prstGeom prst="roundRect">
            <a:avLst>
              <a:gd name="adj" fmla="val 8108"/>
            </a:avLst>
          </a:prstGeom>
          <a:solidFill>
            <a:srgbClr val="F2F4F8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178040" y="3877056"/>
            <a:ext cx="12344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1,862</a:t>
            </a:r>
            <a:endParaRPr lang="en-US" sz="2600" dirty="0"/>
          </a:p>
        </p:txBody>
      </p:sp>
      <p:sp>
        <p:nvSpPr>
          <p:cNvPr id="27" name="Text 25"/>
          <p:cNvSpPr/>
          <p:nvPr/>
        </p:nvSpPr>
        <p:spPr>
          <a:xfrm>
            <a:off x="8458200" y="3877056"/>
            <a:ext cx="301752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system-proof obligations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7040880" y="4626864"/>
            <a:ext cx="4480560" cy="676656"/>
          </a:xfrm>
          <a:prstGeom prst="roundRect">
            <a:avLst>
              <a:gd name="adj" fmla="val 8108"/>
            </a:avLst>
          </a:prstGeom>
          <a:solidFill>
            <a:srgbClr val="F2F4F8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7178040" y="4626864"/>
            <a:ext cx="12344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30</a:t>
            </a:r>
            <a:endParaRPr lang="en-US" sz="2600" dirty="0"/>
          </a:p>
        </p:txBody>
      </p:sp>
      <p:sp>
        <p:nvSpPr>
          <p:cNvPr id="30" name="Text 28"/>
          <p:cNvSpPr/>
          <p:nvPr/>
        </p:nvSpPr>
        <p:spPr>
          <a:xfrm>
            <a:off x="8458200" y="4626864"/>
            <a:ext cx="301752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toolchain + dependency files hashed measure-then-use (4 Verus · 9 HAMR · 17 SysML libs)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7040880" y="5376672"/>
            <a:ext cx="4480560" cy="676656"/>
          </a:xfrm>
          <a:prstGeom prst="roundRect">
            <a:avLst>
              <a:gd name="adj" fmla="val 8108"/>
            </a:avLst>
          </a:prstGeom>
          <a:solidFill>
            <a:srgbClr val="F2F4F8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7178040" y="5376672"/>
            <a:ext cx="12344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</a:t>
            </a:r>
            <a:endParaRPr lang="en-US" sz="2600" dirty="0"/>
          </a:p>
        </p:txBody>
      </p:sp>
      <p:sp>
        <p:nvSpPr>
          <p:cNvPr id="33" name="Text 31"/>
          <p:cNvSpPr/>
          <p:nvPr/>
        </p:nvSpPr>
        <p:spPr>
          <a:xfrm>
            <a:off x="8458200" y="5376672"/>
            <a:ext cx="301752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attestation tiers — the blackboard's entry keys:</a:t>
            </a:r>
            <a:endParaRPr lang="en-US" sz="1000" dirty="0"/>
          </a:p>
          <a:p>
            <a:pPr algn="l" indent="0" marL="0">
              <a:buNone/>
            </a:pPr>
            <a:r>
              <a:rPr lang="en-US" sz="10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props · l1a · l2 · verus · cheat · sysproof · gensrc · report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182880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spc="300" kern="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I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822960" y="228600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consistent baseline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822960" y="3154680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 scene 1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822960" y="3977640"/>
            <a:ext cx="102412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i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artifacts start in a “pass” state with integrity against golden values and </a:t>
            </a:r>
            <a:endParaRPr lang="en-US" sz="2000" dirty="0"/>
          </a:p>
          <a:p>
            <a:pPr indent="0" marL="0">
              <a:buNone/>
            </a:pPr>
            <a:r>
              <a:rPr lang="en-US" sz="2000" i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implementations meet their contracts.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822960" y="6053328"/>
            <a:ext cx="105156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A64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./examples/demo_isolette.sh --scenes 1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6172200" y="5660136"/>
            <a:ext cx="2734056" cy="731520"/>
          </a:xfrm>
          <a:prstGeom prst="roundRect">
            <a:avLst>
              <a:gd name="adj" fmla="val 8750"/>
            </a:avLst>
          </a:prstGeom>
          <a:solidFill>
            <a:srgbClr val="F2F4F8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309360" y="5660136"/>
            <a:ext cx="25877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attested   </a:t>
            </a: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✗ refuted</a:t>
            </a: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? poisoned (untrustworthy)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182880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spc="300" kern="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II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822960" y="228600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Spec drift: benign, promote then re-verify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822960" y="3154680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 scene 3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822960" y="3977640"/>
            <a:ext cx="102412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i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benign change in requirements — the temperature alarm range widened — model appraisal fails quickly.  Administrator re-blesses new spec, all contract appraisals again pass.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822960" y="6053328"/>
            <a:ext cx="105156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A64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./examples/demo_isolette.sh --scenes 3 --drift range         (ruling at the prompt: bless)</a:t>
            </a:r>
            <a:endParaRPr lang="en-US" sz="11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182880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spc="300" kern="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III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822960" y="228600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Implementation drift: benign, re-verify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822960" y="3154680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 scene 13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822960" y="3977640"/>
            <a:ext cx="102412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i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developer rewrites semantically equivalent implementation logic.  The hash moves, but </a:t>
            </a:r>
            <a:endParaRPr lang="en-US" sz="2000" dirty="0"/>
          </a:p>
          <a:p>
            <a:pPr indent="0" marL="0">
              <a:buNone/>
            </a:pPr>
            <a:r>
              <a:rPr lang="en-US" sz="2000" b="1" i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contract slice maintains integrity</a:t>
            </a:r>
            <a:pPr indent="0" marL="0">
              <a:buNone/>
            </a:pPr>
            <a:r>
              <a:rPr lang="en-US" sz="2000" i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and the proofs re-verify: the benign change survives.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822960" y="6053328"/>
            <a:ext cx="105156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A64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./examples/demo_isolette.sh --scenes 13</a:t>
            </a:r>
            <a:endParaRPr lang="en-US" sz="11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182880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spc="300" kern="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IV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822960" y="228600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Contract drift: breaking, restore then attempt re-verification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822960" y="3236976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 scene 14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822960" y="3977640"/>
            <a:ext cx="102412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i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model is untouched, but a live Verus contract is weakened (</a:t>
            </a:r>
            <a:pPr indent="0" marL="0">
              <a:buNone/>
            </a:pPr>
            <a:r>
              <a:rPr lang="en-US" sz="2000" b="1" i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after codegen, but before verification</a:t>
            </a:r>
            <a:pPr indent="0" marL="0">
              <a:buNone/>
            </a:pPr>
            <a:r>
              <a:rPr lang="en-US" sz="2000" i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) and the code is inverted to match — verus checks pass.  Contract repair (restoring the true Verus contract) exposes the verification failure.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822960" y="6053328"/>
            <a:ext cx="105156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A64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./examples/demo_isolette.sh --scenes 14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182880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spc="300" kern="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V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822960" y="228600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Implementation drift: breaking, diagnose then repair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822960" y="3236976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 scene 2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822960" y="3977640"/>
            <a:ext cx="102412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i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Implementation code (developer-owned) changes, breaking a Verus contract.  Blackboard loop diagnoses, repairs, then </a:t>
            </a:r>
            <a:pPr indent="0" marL="0">
              <a:buNone/>
            </a:pPr>
            <a:r>
              <a:rPr lang="en-US" sz="2000" b="1" i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returns the artifact to good standing only by re-measurement</a:t>
            </a:r>
            <a:pPr indent="0" marL="0">
              <a:buNone/>
            </a:pPr>
            <a:r>
              <a:rPr lang="en-US" sz="2000" i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822960" y="6053328"/>
            <a:ext cx="105156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A64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./examples/demo_isolette.sh --scenes 2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182880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spc="300" kern="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VI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822960" y="228600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Baseline drift:  tampered evidence bundle, protocol, tooling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822960" y="3236976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 scenes 6 + 7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822960" y="3977640"/>
            <a:ext cx="102412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i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signed golden evidence bundle, an installed (live) golden value in the appraisal protocol, then the verification tool itself — each tamper attributed, </a:t>
            </a:r>
            <a:pPr indent="0" marL="0">
              <a:buNone/>
            </a:pPr>
            <a:r>
              <a:rPr lang="en-US" sz="2000" b="1" i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refused by cryptographic checks</a:t>
            </a:r>
            <a:pPr indent="0" marL="0">
              <a:buNone/>
            </a:pPr>
            <a:r>
              <a:rPr lang="en-US" sz="2000" i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822960" y="6053328"/>
            <a:ext cx="105156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A64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./examples/demo_isolette.sh --scenes "6 7"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182880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spc="300" kern="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VII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822960" y="228600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Axiom drift:  semantic measurement detects axioms and unsound proof techniques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822960" y="3236976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 scenes 9 + 12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822960" y="3977640"/>
            <a:ext cx="102412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i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Proofs verify, but measurement detects </a:t>
            </a:r>
            <a:pPr indent="0" marL="0">
              <a:buNone/>
            </a:pPr>
            <a:r>
              <a:rPr lang="en-US" sz="2000" b="1" i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subtle cheating in proof attempts, </a:t>
            </a:r>
            <a:endParaRPr lang="en-US" sz="2000" dirty="0"/>
          </a:p>
          <a:p>
            <a:pPr indent="0" marL="0">
              <a:buNone/>
            </a:pPr>
            <a:r>
              <a:rPr lang="en-US" sz="2000" i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that would otherwise undermine verification soundness.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822960" y="6053328"/>
            <a:ext cx="105156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A64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./examples/demo_isolette.sh --scenes "9 12"</a:t>
            </a:r>
            <a:endParaRPr lang="en-US" sz="11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Roadmap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640080" y="2834640"/>
            <a:ext cx="2044598" cy="777240"/>
          </a:xfrm>
          <a:prstGeom prst="roundRect">
            <a:avLst>
              <a:gd name="adj" fmla="val 8235"/>
            </a:avLst>
          </a:prstGeom>
          <a:solidFill>
            <a:srgbClr val="CADCFC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2834640"/>
            <a:ext cx="2044598" cy="7772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135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Preliminaries</a:t>
            </a:r>
            <a:endParaRPr lang="en-US" sz="1350" dirty="0"/>
          </a:p>
        </p:txBody>
      </p:sp>
      <p:sp>
        <p:nvSpPr>
          <p:cNvPr id="5" name="Text 3"/>
          <p:cNvSpPr/>
          <p:nvPr/>
        </p:nvSpPr>
        <p:spPr>
          <a:xfrm>
            <a:off x="2629814" y="2834640"/>
            <a:ext cx="274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849270" y="2834640"/>
            <a:ext cx="2044598" cy="777240"/>
          </a:xfrm>
          <a:prstGeom prst="roundRect">
            <a:avLst>
              <a:gd name="adj" fmla="val 8235"/>
            </a:avLst>
          </a:prstGeom>
          <a:solidFill>
            <a:srgbClr val="CADCFC"/>
          </a:solidFill>
          <a:ln/>
        </p:spPr>
      </p:sp>
      <p:sp>
        <p:nvSpPr>
          <p:cNvPr id="7" name="Text 5"/>
          <p:cNvSpPr/>
          <p:nvPr/>
        </p:nvSpPr>
        <p:spPr>
          <a:xfrm>
            <a:off x="2849270" y="2834640"/>
            <a:ext cx="2044598" cy="7772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135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Demo:</a:t>
            </a:r>
            <a:endParaRPr lang="en-US" sz="1350" dirty="0"/>
          </a:p>
          <a:p>
            <a:pPr algn="ctr" indent="0" marL="0">
              <a:buNone/>
            </a:pPr>
            <a:r>
              <a:rPr lang="en-US" sz="135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Isolette (SysMLv2 → Rust)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4839005" y="2834640"/>
            <a:ext cx="274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5058461" y="2834640"/>
            <a:ext cx="2044598" cy="777240"/>
          </a:xfrm>
          <a:prstGeom prst="roundRect">
            <a:avLst>
              <a:gd name="adj" fmla="val 8235"/>
            </a:avLst>
          </a:prstGeom>
          <a:solidFill>
            <a:srgbClr val="1E2761"/>
          </a:solidFill>
          <a:ln/>
        </p:spPr>
      </p:sp>
      <p:sp>
        <p:nvSpPr>
          <p:cNvPr id="10" name="Text 8"/>
          <p:cNvSpPr/>
          <p:nvPr/>
        </p:nvSpPr>
        <p:spPr>
          <a:xfrm>
            <a:off x="5058461" y="2834640"/>
            <a:ext cx="2044598" cy="7772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Other Ecosystems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7048195" y="2834640"/>
            <a:ext cx="274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7267651" y="2834640"/>
            <a:ext cx="2044598" cy="777240"/>
          </a:xfrm>
          <a:prstGeom prst="roundRect">
            <a:avLst>
              <a:gd name="adj" fmla="val 8235"/>
            </a:avLst>
          </a:prstGeom>
          <a:solidFill>
            <a:srgbClr val="CADCFC"/>
          </a:solidFill>
          <a:ln/>
        </p:spPr>
      </p:sp>
      <p:sp>
        <p:nvSpPr>
          <p:cNvPr id="13" name="Text 11"/>
          <p:cNvSpPr/>
          <p:nvPr/>
        </p:nvSpPr>
        <p:spPr>
          <a:xfrm>
            <a:off x="7267651" y="2834640"/>
            <a:ext cx="2044598" cy="7772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135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in the Loop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9257386" y="2834640"/>
            <a:ext cx="274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9476842" y="2834640"/>
            <a:ext cx="2044598" cy="777240"/>
          </a:xfrm>
          <a:prstGeom prst="roundRect">
            <a:avLst>
              <a:gd name="adj" fmla="val 8235"/>
            </a:avLst>
          </a:prstGeom>
          <a:solidFill>
            <a:srgbClr val="CADCFC"/>
          </a:solidFill>
          <a:ln/>
        </p:spPr>
      </p:sp>
      <p:sp>
        <p:nvSpPr>
          <p:cNvPr id="16" name="Text 14"/>
          <p:cNvSpPr/>
          <p:nvPr/>
        </p:nvSpPr>
        <p:spPr>
          <a:xfrm>
            <a:off x="9476842" y="2834640"/>
            <a:ext cx="2044598" cy="7772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135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Close</a:t>
            </a:r>
            <a:endParaRPr lang="en-US" sz="13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blackboard, many artifact pipelines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640080" y="1024128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blackboard infrastructure and artifact classes don’t change — only the </a:t>
            </a:r>
            <a:pPr indent="0" marL="0">
              <a:buNone/>
            </a:pPr>
            <a:r>
              <a:rPr lang="en-US" sz="1500" b="1" i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pipeline around them does</a:t>
            </a:r>
            <a:pPr indent="0" marL="0">
              <a:buNone/>
            </a:pPr>
            <a:r>
              <a:rPr lang="en-US" sz="1500" i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modeling language, prover, </a:t>
            </a:r>
            <a:endParaRPr lang="en-US" sz="1500" dirty="0"/>
          </a:p>
          <a:p>
            <a:pPr indent="0" marL="0">
              <a:buNone/>
            </a:pPr>
            <a:r>
              <a:rPr lang="en-US" sz="1500" i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target runtime, and attestation primitives.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640080" y="1645920"/>
            <a:ext cx="5349240" cy="2148840"/>
          </a:xfrm>
          <a:prstGeom prst="roundRect">
            <a:avLst>
              <a:gd name="adj" fmla="val 2553"/>
            </a:avLst>
          </a:prstGeom>
          <a:solidFill>
            <a:srgbClr val="1E2761"/>
          </a:solidFill>
          <a:ln/>
        </p:spPr>
      </p:sp>
      <p:sp>
        <p:nvSpPr>
          <p:cNvPr id="5" name="Text 3"/>
          <p:cNvSpPr/>
          <p:nvPr/>
        </p:nvSpPr>
        <p:spPr>
          <a:xfrm>
            <a:off x="868680" y="1755648"/>
            <a:ext cx="4892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SysML v2 → HAMR → Rust / Verus</a:t>
            </a:r>
            <a:endParaRPr lang="en-US" sz="1550" dirty="0"/>
          </a:p>
        </p:txBody>
      </p:sp>
      <p:sp>
        <p:nvSpPr>
          <p:cNvPr id="6" name="Text 4"/>
          <p:cNvSpPr/>
          <p:nvPr/>
        </p:nvSpPr>
        <p:spPr>
          <a:xfrm>
            <a:off x="877824" y="2103120"/>
            <a:ext cx="4892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isolette</a:t>
            </a:r>
            <a:pPr algn="l" indent="0" marL="0">
              <a:buNone/>
            </a:pPr>
            <a:r>
              <a:rPr lang="en-US" sz="1050" b="1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◀ the demo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914400" y="2423160"/>
            <a:ext cx="4846320" cy="12527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SysMLv2 GUMBO component contracts</a:t>
            </a:r>
            <a:endParaRPr lang="en-US" sz="1200" dirty="0"/>
          </a:p>
          <a:p>
            <a:pPr algn="l"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seL4 / Microkit runtime target</a:t>
            </a:r>
            <a:endParaRPr lang="en-US" sz="1200" dirty="0"/>
          </a:p>
          <a:p>
            <a:pPr algn="l"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artifact class measured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6263640" y="1645920"/>
            <a:ext cx="5349240" cy="2148840"/>
          </a:xfrm>
          <a:prstGeom prst="roundRect">
            <a:avLst>
              <a:gd name="adj" fmla="val 2553"/>
            </a:avLst>
          </a:prstGeom>
          <a:solidFill>
            <a:srgbClr val="F2F4F8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492240" y="1755648"/>
            <a:ext cx="4892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AADL → HAMR → Slang / Logika</a:t>
            </a:r>
            <a:endParaRPr lang="en-US" sz="1550" dirty="0"/>
          </a:p>
        </p:txBody>
      </p:sp>
      <p:sp>
        <p:nvSpPr>
          <p:cNvPr id="10" name="Text 8"/>
          <p:cNvSpPr/>
          <p:nvPr/>
        </p:nvSpPr>
        <p:spPr>
          <a:xfrm>
            <a:off x="6501384" y="2103120"/>
            <a:ext cx="4892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i="1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temp-control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6537960" y="2423160"/>
            <a:ext cx="4846320" cy="12527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AADL GUMBO component contracts</a:t>
            </a:r>
            <a:endParaRPr lang="en-US" sz="1200" dirty="0"/>
          </a:p>
          <a:p>
            <a:pPr algn="l"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JVM runtime target</a:t>
            </a:r>
            <a:endParaRPr lang="en-US" sz="1200" dirty="0"/>
          </a:p>
          <a:p>
            <a:pPr algn="l"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blackboard, similar Copland protocols to SysMLv2 pipeline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40080" y="4069080"/>
            <a:ext cx="5349240" cy="2148840"/>
          </a:xfrm>
          <a:prstGeom prst="roundRect">
            <a:avLst>
              <a:gd name="adj" fmla="val 2553"/>
            </a:avLst>
          </a:prstGeom>
          <a:solidFill>
            <a:srgbClr val="F2F4F8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68680" y="4178808"/>
            <a:ext cx="4892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Standalone Rust / Verus</a:t>
            </a:r>
            <a:endParaRPr lang="en-US" sz="1550" dirty="0"/>
          </a:p>
        </p:txBody>
      </p:sp>
      <p:sp>
        <p:nvSpPr>
          <p:cNvPr id="14" name="Text 12"/>
          <p:cNvSpPr/>
          <p:nvPr/>
        </p:nvSpPr>
        <p:spPr>
          <a:xfrm>
            <a:off x="877824" y="4526280"/>
            <a:ext cx="4892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i="1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find-max-verus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914400" y="4846320"/>
            <a:ext cx="4846320" cy="12527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Contracts + proofs written directly in Verus</a:t>
            </a:r>
            <a:endParaRPr lang="en-US" sz="1200" dirty="0"/>
          </a:p>
          <a:p>
            <a:pPr algn="l"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model, no codegen — implementation + proof classes only</a:t>
            </a:r>
            <a:endParaRPr lang="en-US" sz="1200" dirty="0"/>
          </a:p>
          <a:p>
            <a:pPr algn="l"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Proof-repair experiments</a:t>
            </a:r>
            <a:endParaRPr lang="en-US" sz="1200" dirty="0"/>
          </a:p>
          <a:p>
            <a:pPr marL="800100" lvl="1" indent="-342900">
              <a:spcAft>
                <a:spcPts val="400"/>
              </a:spcAft>
              <a:buSzPct val="100000"/>
              <a:buFont typeface="Courier New" panose="02070309020205020404" pitchFamily="49" charset="0"/>
              <a:buChar char="o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AutoVerus</a:t>
            </a:r>
            <a:endParaRPr lang="en-US" sz="1200" dirty="0"/>
          </a:p>
          <a:p>
            <a:pPr marL="800100" lvl="1" indent="-342900">
              <a:spcAft>
                <a:spcPts val="400"/>
              </a:spcAft>
              <a:buSzPct val="100000"/>
              <a:buFont typeface="Courier New" panose="02070309020205020404" pitchFamily="49" charset="0"/>
              <a:buChar char="o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 Dogtreat linear planner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6263640" y="4069080"/>
            <a:ext cx="5349240" cy="2148840"/>
          </a:xfrm>
          <a:prstGeom prst="roundRect">
            <a:avLst>
              <a:gd name="adj" fmla="val 2553"/>
            </a:avLst>
          </a:prstGeom>
          <a:solidFill>
            <a:srgbClr val="F2F4F8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492240" y="4178808"/>
            <a:ext cx="4892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Interactive Theorem Provers:  Lean / Rocq</a:t>
            </a:r>
            <a:endParaRPr lang="en-US" sz="1550" dirty="0"/>
          </a:p>
        </p:txBody>
      </p:sp>
      <p:sp>
        <p:nvSpPr>
          <p:cNvPr id="18" name="Text 16"/>
          <p:cNvSpPr/>
          <p:nvPr/>
        </p:nvSpPr>
        <p:spPr>
          <a:xfrm>
            <a:off x="6501384" y="4526280"/>
            <a:ext cx="4892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i="1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landing-gear, temp-control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6537960" y="4846320"/>
            <a:ext cx="4846320" cy="12527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Blessed theorem statements, workflow-owned implementations, proofs</a:t>
            </a:r>
            <a:endParaRPr lang="en-US" sz="1200" dirty="0"/>
          </a:p>
          <a:p>
            <a:pPr algn="l"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Tactic-driven and LLM-driven proof repair</a:t>
            </a:r>
            <a:endParaRPr lang="en-US" sz="1200" dirty="0"/>
          </a:p>
          <a:p>
            <a:pPr algn="l"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Goal-directed: attestation enforces one invariant while synthesis iterates</a:t>
            </a:r>
            <a:endParaRPr lang="en-US" sz="1200" dirty="0"/>
          </a:p>
          <a:p>
            <a:pPr algn="l"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ITP-specific axiom checks</a:t>
            </a:r>
            <a:endParaRPr lang="en-US" sz="12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Roadmap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640080" y="2834640"/>
            <a:ext cx="2044598" cy="777240"/>
          </a:xfrm>
          <a:prstGeom prst="roundRect">
            <a:avLst>
              <a:gd name="adj" fmla="val 8235"/>
            </a:avLst>
          </a:prstGeom>
          <a:solidFill>
            <a:srgbClr val="CADCFC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2834640"/>
            <a:ext cx="2044598" cy="7772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135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Preliminaries</a:t>
            </a:r>
            <a:endParaRPr lang="en-US" sz="1350" dirty="0"/>
          </a:p>
        </p:txBody>
      </p:sp>
      <p:sp>
        <p:nvSpPr>
          <p:cNvPr id="5" name="Text 3"/>
          <p:cNvSpPr/>
          <p:nvPr/>
        </p:nvSpPr>
        <p:spPr>
          <a:xfrm>
            <a:off x="2629814" y="2834640"/>
            <a:ext cx="274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849270" y="2834640"/>
            <a:ext cx="2044598" cy="777240"/>
          </a:xfrm>
          <a:prstGeom prst="roundRect">
            <a:avLst>
              <a:gd name="adj" fmla="val 8235"/>
            </a:avLst>
          </a:prstGeom>
          <a:solidFill>
            <a:srgbClr val="CADCFC"/>
          </a:solidFill>
          <a:ln/>
        </p:spPr>
      </p:sp>
      <p:sp>
        <p:nvSpPr>
          <p:cNvPr id="7" name="Text 5"/>
          <p:cNvSpPr/>
          <p:nvPr/>
        </p:nvSpPr>
        <p:spPr>
          <a:xfrm>
            <a:off x="2849270" y="2834640"/>
            <a:ext cx="2044598" cy="7772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135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Demo:</a:t>
            </a:r>
            <a:endParaRPr lang="en-US" sz="1350" dirty="0"/>
          </a:p>
          <a:p>
            <a:pPr algn="ctr" indent="0" marL="0">
              <a:buNone/>
            </a:pPr>
            <a:r>
              <a:rPr lang="en-US" sz="135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Isolette (SysMLv2 → Rust)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4839005" y="2834640"/>
            <a:ext cx="274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5058461" y="2834640"/>
            <a:ext cx="2044598" cy="777240"/>
          </a:xfrm>
          <a:prstGeom prst="roundRect">
            <a:avLst>
              <a:gd name="adj" fmla="val 8235"/>
            </a:avLst>
          </a:prstGeom>
          <a:solidFill>
            <a:srgbClr val="CADCFC"/>
          </a:solidFill>
          <a:ln/>
        </p:spPr>
      </p:sp>
      <p:sp>
        <p:nvSpPr>
          <p:cNvPr id="10" name="Text 8"/>
          <p:cNvSpPr/>
          <p:nvPr/>
        </p:nvSpPr>
        <p:spPr>
          <a:xfrm>
            <a:off x="5058461" y="2834640"/>
            <a:ext cx="2044598" cy="7772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135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Other Ecosystems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7048195" y="2834640"/>
            <a:ext cx="274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7267651" y="2834640"/>
            <a:ext cx="2044598" cy="777240"/>
          </a:xfrm>
          <a:prstGeom prst="roundRect">
            <a:avLst>
              <a:gd name="adj" fmla="val 8235"/>
            </a:avLst>
          </a:prstGeom>
          <a:solidFill>
            <a:srgbClr val="1E2761"/>
          </a:solidFill>
          <a:ln/>
        </p:spPr>
      </p:sp>
      <p:sp>
        <p:nvSpPr>
          <p:cNvPr id="13" name="Text 11"/>
          <p:cNvSpPr/>
          <p:nvPr/>
        </p:nvSpPr>
        <p:spPr>
          <a:xfrm>
            <a:off x="7267651" y="2834640"/>
            <a:ext cx="2044598" cy="7772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in the Loop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9257386" y="2834640"/>
            <a:ext cx="274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9476842" y="2834640"/>
            <a:ext cx="2044598" cy="777240"/>
          </a:xfrm>
          <a:prstGeom prst="roundRect">
            <a:avLst>
              <a:gd name="adj" fmla="val 8235"/>
            </a:avLst>
          </a:prstGeom>
          <a:solidFill>
            <a:srgbClr val="CADCFC"/>
          </a:solidFill>
          <a:ln/>
        </p:spPr>
      </p:sp>
      <p:sp>
        <p:nvSpPr>
          <p:cNvPr id="16" name="Text 14"/>
          <p:cNvSpPr/>
          <p:nvPr/>
        </p:nvSpPr>
        <p:spPr>
          <a:xfrm>
            <a:off x="9476842" y="2834640"/>
            <a:ext cx="2044598" cy="7772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135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Close</a:t>
            </a:r>
            <a:endParaRPr lang="en-US" sz="13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47472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AI </a:t>
            </a:r>
            <a:pPr indent="0" marL="0">
              <a:buNone/>
            </a:pPr>
            <a:r>
              <a:rPr lang="en-US" sz="4000" b="1" i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</a:t>
            </a:r>
            <a:pPr indent="0" marL="0">
              <a:buNone/>
            </a:pPr>
            <a:r>
              <a:rPr lang="en-US" sz="4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the loop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658368" y="1024128"/>
            <a:ext cx="10972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untrusted artifact synthesis/repair;  verified, deterministic appraisal</a:t>
            </a:r>
            <a:endParaRPr lang="en-US" sz="1600" dirty="0"/>
          </a:p>
        </p:txBody>
      </p:sp>
      <p:graphicFrame>
        <p:nvGraphicFramePr>
          <p:cNvPr id="2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682496"/>
          <a:ext cx="10881360" cy="914400"/>
        </p:xfrm>
        <a:graphic>
          <a:graphicData uri="http://schemas.openxmlformats.org/drawingml/2006/table">
            <a:tbl>
              <a:tblPr/>
              <a:tblGrid>
                <a:gridCol w="2286000"/>
                <a:gridCol w="4480560"/>
                <a:gridCol w="4114800"/>
              </a:tblGrid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Workflow stage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Where LLMs participate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 Guardrail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Model / spec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 draft or restate specs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Only a human administrator may authenticate a new spec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Implementation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spec-guided synthesis / re-derivation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Code must meet its formal contracts, checked by legitimate toolchain, derived from human-blessed spec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9144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Proofs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Suggests tactic portfolio (deterministic at runtime) · API calls + LLM-assisted desktop sessions (loop is paused) · Proof repair agents (AutoVerus · KU Dogtreat linear planner)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Only fresh measurement re-establishes good standing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Verification &amp; appraisal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7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none — by design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7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Verification kernels (Rocq, Lean, Verus), formally-verified attestation managers (evidence unbundling), trusted attestation primitives (hash checks, semantic analysis of source code, etc.)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7E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Evidence / trust state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7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none — by design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7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Cryptographic immutability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7E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47472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AI </a:t>
            </a:r>
            <a:pPr indent="0" marL="0">
              <a:buNone/>
            </a:pPr>
            <a:r>
              <a:rPr lang="en-US" sz="4000" b="1" i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built</a:t>
            </a:r>
            <a:pPr indent="0" marL="0">
              <a:buNone/>
            </a:pPr>
            <a:r>
              <a:rPr lang="en-US" sz="4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the loop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658368" y="1024128"/>
            <a:ext cx="10972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blackboard and attestation infrastructure, artifact measurements, attestation protocols, attacks</a:t>
            </a:r>
            <a:endParaRPr lang="en-US" sz="1600" dirty="0"/>
          </a:p>
        </p:txBody>
      </p:sp>
      <p:graphicFrame>
        <p:nvGraphicFramePr>
          <p:cNvPr id="2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600200"/>
          <a:ext cx="1088136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5120640"/>
                <a:gridCol w="3383280"/>
              </a:tblGrid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What AI built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How we trust it (or not)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Blackboard infrastructure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pybb framework (blackboard, controller, knowledge sources), demo arcs, install script, CI suite, detailed documentation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Orchestration in python is untrusted,</a:t>
                      </a:r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but evidence bundles are independently-verifiable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CVM core &amp; frontends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bpar</a:t>
                      </a:r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(parallel Copland term) </a:t>
                      </a:r>
                      <a:pPr algn="l" indent="0" marL="0">
                        <a:buNone/>
                      </a:pPr>
                      <a:r>
                        <a:rPr lang="en-US" sz="1200" i="1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 the verified CVM core,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CVM frontend fixes (</a:t>
                      </a:r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--stdin, --req_file </a:t>
                      </a:r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interfaces)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Rocq proofs w.r.t. CVM reference semantics --</a:t>
                      </a:r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Claude couldn’t update existing proofs automatically, but assisted an expert Rocq developer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8412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Measurement primitives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 new + 7 upgraded</a:t>
                      </a:r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asp-libs binaries (hashing, the Lean/Rocq/HAMR runners &amp; appraisers, cheat scan, golden-slice extraction)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New attestation primitives are untrusted, require manual inspection (or formal analysis)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Attestation protocols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42 provisioned</a:t>
                      </a:r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Copland protocol directories across the ecosystems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Copland protocol analysis bolsters trust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498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Attacks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demo tampers + </a:t>
                      </a:r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 red-team attack classes </a:t>
                      </a:r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(see next slide)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Concrete “counter-examples” show attacks succeeding, </a:t>
                      </a:r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undetected by existing measurement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640080" y="6044184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virtuous cycle – </a:t>
            </a:r>
            <a:pPr algn="l" indent="0" marL="0">
              <a:buNone/>
            </a:pPr>
            <a:r>
              <a:rPr lang="en-US" sz="1350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AI-assisted workflow to add (deterministic) tools and domain-specific measurement capabilities.  </a:t>
            </a:r>
            <a:endParaRPr lang="en-US" sz="135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47472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AI </a:t>
            </a:r>
            <a:pPr indent="0" marL="0">
              <a:buNone/>
            </a:pPr>
            <a:r>
              <a:rPr lang="en-US" sz="4000" b="1" i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attacked</a:t>
            </a:r>
            <a:pPr indent="0" marL="0">
              <a:buNone/>
            </a:pPr>
            <a:r>
              <a:rPr lang="en-US" sz="4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the loop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658368" y="1024128"/>
            <a:ext cx="10972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seven attack types, each undetected at discovery time — each forced a new measurement capability</a:t>
            </a:r>
            <a:endParaRPr lang="en-US" sz="1600" dirty="0"/>
          </a:p>
        </p:txBody>
      </p:sp>
      <p:graphicFrame>
        <p:nvGraphicFramePr>
          <p:cNvPr id="2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554480"/>
          <a:ext cx="10881360" cy="914400"/>
        </p:xfrm>
        <a:graphic>
          <a:graphicData uri="http://schemas.openxmlformats.org/drawingml/2006/table">
            <a:tbl>
              <a:tblPr/>
              <a:tblGrid>
                <a:gridCol w="3611880"/>
                <a:gridCol w="4069080"/>
                <a:gridCol w="3200400"/>
              </a:tblGrid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Attack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Avoided detection by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New measurement forced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ADMIT</a:t>
                      </a:r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— </a:t>
                      </a:r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assume(false) </a:t>
                      </a:r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 an unmeasured bridge file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cargo-verus reports the same success over the hollow proof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cheat scan (</a:t>
                      </a:r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cheat_scan_verus</a:t>
                      </a:r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SMUGGLE</a:t>
                      </a:r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— </a:t>
                      </a:r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external_body </a:t>
                      </a:r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broadcast axiom, ensures false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cargo-verus reports the same success over the hollow proof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cheat scan (</a:t>
                      </a:r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cheat_scan_verus</a:t>
                      </a:r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SHRINK</a:t>
                      </a:r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— system-proof module commented out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smaller crate still verifies, 0 errors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sysproof file hashes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SWAP</a:t>
                      </a:r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— contract dropped, trivial one added, same count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outcome, count, escape surface all unchanged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sysproof file hashes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STALE</a:t>
                      </a:r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— semantic flip in a cached dep, </a:t>
                      </a:r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mtime</a:t>
                      </a:r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preserved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mtime-gated cache serves the stale verdict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gensrc</a:t>
                      </a:r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measurement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INVERT</a:t>
                      </a:r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— heat command flipped in unverified FFI glue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Verus never reads the body (unverified code, out of scope)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gensrc</a:t>
                      </a:r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measurement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863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LAUNDER</a:t>
                      </a:r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— contract weakened + impl inverted to match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EF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gap in contract coverage for attestation report’s compute_cases construct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EF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stopgap contract measurement, contract coverage check at provisioning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EFF4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640080" y="6144768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Adversarial co-development</a:t>
            </a:r>
            <a:pPr algn="l" indent="0" marL="0">
              <a:buNone/>
            </a:pPr>
            <a:r>
              <a:rPr lang="en-US" sz="1350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defense-in-depth, anomaly detection, proposed mitigation.</a:t>
            </a:r>
            <a:endParaRPr lang="en-US" sz="135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References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640080" y="1371600"/>
            <a:ext cx="10972800" cy="5120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Attestation foundations</a:t>
            </a:r>
            <a:endParaRPr lang="en-US" sz="1400" dirty="0"/>
          </a:p>
          <a:p>
            <a:pPr algn="l" indent="0" marL="0">
              <a:buNone/>
            </a:pPr>
            <a:r>
              <a:rPr lang="en-US" sz="11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[1]  </a:t>
            </a:r>
            <a:pPr algn="l" indent="0" marL="0">
              <a:spcAft>
                <a:spcPts val="300"/>
              </a:spcAft>
              <a:buNone/>
            </a:pPr>
            <a:r>
              <a:rPr lang="en-US" sz="11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Thomas, Schmalz, Petz, Alexander, Guttman, Rowe, Carter, </a:t>
            </a:r>
            <a:pPr algn="l" indent="0" marL="0">
              <a:spcAft>
                <a:spcPts val="300"/>
              </a:spcAft>
              <a:buNone/>
            </a:pPr>
            <a:r>
              <a:rPr lang="en-US" sz="1150" i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Designing Trustworthy Layered Attestations</a:t>
            </a:r>
            <a:pPr algn="l" indent="0" marL="0">
              <a:spcAft>
                <a:spcPts val="300"/>
              </a:spcAft>
              <a:buNone/>
            </a:pPr>
            <a:r>
              <a:rPr lang="en-US" sz="11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arXiv:2603.06326, 2026</a:t>
            </a:r>
            <a:endParaRPr lang="en-US" sz="1400" dirty="0"/>
          </a:p>
          <a:p>
            <a:pPr algn="l" indent="0" marL="0">
              <a:buNone/>
            </a:pPr>
            <a:r>
              <a:rPr lang="en-US" sz="11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[2]  </a:t>
            </a:r>
            <a:pPr algn="l" indent="0" marL="0">
              <a:spcAft>
                <a:spcPts val="300"/>
              </a:spcAft>
              <a:buNone/>
            </a:pPr>
            <a:r>
              <a:rPr lang="en-US" sz="11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Ramsdell, Rowe, Alexander, Helble, Loscocco, Pendergrass, Petz, </a:t>
            </a:r>
            <a:pPr algn="l" indent="0" marL="0">
              <a:spcAft>
                <a:spcPts val="300"/>
              </a:spcAft>
              <a:buNone/>
            </a:pPr>
            <a:r>
              <a:rPr lang="en-US" sz="1150" i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Orchestrating Layered Attestations</a:t>
            </a:r>
            <a:pPr algn="l" indent="0" marL="0">
              <a:spcAft>
                <a:spcPts val="300"/>
              </a:spcAft>
              <a:buNone/>
            </a:pPr>
            <a:r>
              <a:rPr lang="en-US" sz="11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POST 2019, LNCS 11426, pp. 197–221</a:t>
            </a:r>
            <a:endParaRPr lang="en-US" sz="1400" dirty="0"/>
          </a:p>
          <a:p>
            <a:pPr algn="l" indent="0" marL="0">
              <a:buNone/>
            </a:pPr>
            <a:r>
              <a:rPr lang="en-US" sz="11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[3]  </a:t>
            </a:r>
            <a:pPr algn="l" indent="0" marL="0">
              <a:spcAft>
                <a:spcPts val="300"/>
              </a:spcAft>
              <a:buNone/>
            </a:pPr>
            <a:r>
              <a:rPr lang="en-US" sz="11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Copland Virtual Machine (CVM), KU SLDG: github.com/ku-sldg/cvm</a:t>
            </a:r>
            <a:endParaRPr lang="en-US" sz="1400" dirty="0"/>
          </a:p>
          <a:p>
            <a:pPr algn="l" indent="0" marL="0">
              <a:buNone/>
            </a:pPr>
            <a:r>
              <a:rPr lang="en-US" sz="11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[4]  </a:t>
            </a:r>
            <a:pPr algn="l" indent="0" marL="0">
              <a:spcAft>
                <a:spcPts val="300"/>
              </a:spcAft>
              <a:buNone/>
            </a:pPr>
            <a:r>
              <a:rPr lang="en-US" sz="11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Petz, Thomas, Fritz, Barclay, Schmalz, Alexander, </a:t>
            </a:r>
            <a:pPr algn="l" indent="0" marL="0">
              <a:spcAft>
                <a:spcPts val="300"/>
              </a:spcAft>
              <a:buNone/>
            </a:pPr>
            <a:r>
              <a:rPr lang="en-US" sz="1150" i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Verified Configuration and Deployment of Layered Attestation Managers</a:t>
            </a:r>
            <a:pPr algn="l" indent="0" marL="0">
              <a:spcAft>
                <a:spcPts val="300"/>
              </a:spcAft>
              <a:buNone/>
            </a:pPr>
            <a:r>
              <a:rPr lang="en-US" sz="11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SEFM 2024, LNCS 15280, pp. 290–308</a:t>
            </a:r>
            <a:endParaRPr lang="en-US" sz="1400" dirty="0"/>
          </a:p>
          <a:p>
            <a:pPr algn="l" indent="0" marL="0">
              <a:buNone/>
            </a:pPr>
            <a:r>
              <a:rPr lang="en-US" sz="11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[5]  </a:t>
            </a:r>
            <a:pPr algn="l" indent="0" marL="0">
              <a:spcAft>
                <a:spcPts val="300"/>
              </a:spcAft>
              <a:buNone/>
            </a:pPr>
            <a:r>
              <a:rPr lang="en-US" sz="11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asp-libs (attestation service provider libraries), KU SLDG: github.com/ku-sldg/asp-libs</a:t>
            </a:r>
            <a:endParaRPr lang="en-US" sz="1400" dirty="0"/>
          </a:p>
          <a:p>
            <a:pPr algn="l" indent="0" marL="0">
              <a:buNone/>
            </a:pPr>
            <a:r>
              <a:rPr lang="en-US" sz="11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[6]  </a:t>
            </a:r>
            <a:pPr algn="l" indent="0" marL="0">
              <a:spcAft>
                <a:spcPts val="300"/>
              </a:spcAft>
              <a:buNone/>
            </a:pPr>
            <a:r>
              <a:rPr lang="en-US" sz="11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Petz &amp; Alexander, </a:t>
            </a:r>
            <a:pPr algn="l" indent="0" marL="0">
              <a:spcAft>
                <a:spcPts val="300"/>
              </a:spcAft>
              <a:buNone/>
            </a:pPr>
            <a:r>
              <a:rPr lang="en-US" sz="1150" i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Formally Verified Bundling and Appraisal of Evidence for Layered Attestations</a:t>
            </a:r>
            <a:pPr algn="l" indent="0" marL="0">
              <a:spcAft>
                <a:spcPts val="300"/>
              </a:spcAft>
              <a:buNone/>
            </a:pPr>
            <a:r>
              <a:rPr lang="en-US" sz="11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Innovations in Systems and Software Engineering 19(4), 2023, pp. 411–426</a:t>
            </a:r>
            <a:endParaRPr lang="en-US" sz="1400" dirty="0"/>
          </a:p>
          <a:p>
            <a:pPr algn="l" indent="0" marL="0">
              <a:spcBef>
                <a:spcPts val="1200"/>
              </a:spcBef>
              <a:spcAft>
                <a:spcPts val="400"/>
              </a:spcAft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isolette &amp; HAMR (Kansas State)</a:t>
            </a:r>
            <a:endParaRPr lang="en-US" sz="1400" dirty="0"/>
          </a:p>
          <a:p>
            <a:pPr algn="l" indent="0" marL="0">
              <a:buNone/>
            </a:pPr>
            <a:r>
              <a:rPr lang="en-US" sz="11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[7]  </a:t>
            </a:r>
            <a:pPr algn="l" indent="0" marL="0">
              <a:spcAft>
                <a:spcPts val="300"/>
              </a:spcAft>
              <a:buNone/>
            </a:pPr>
            <a:r>
              <a:rPr lang="en-US" sz="11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Hatcliff &amp; Belt, </a:t>
            </a:r>
            <a:pPr algn="l" indent="0" marL="0">
              <a:spcAft>
                <a:spcPts val="300"/>
              </a:spcAft>
              <a:buNone/>
            </a:pPr>
            <a:r>
              <a:rPr lang="en-US" sz="1150" i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Isolette System: Illustrating End-to-End Artifacts for Rigorous Model-Based Engineering</a:t>
            </a:r>
            <a:pPr algn="l" indent="0" marL="0">
              <a:spcAft>
                <a:spcPts val="300"/>
              </a:spcAft>
              <a:buNone/>
            </a:pPr>
            <a:r>
              <a:rPr lang="en-US" sz="11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Springer LNCS 15240, 2025, pp. 93–117</a:t>
            </a:r>
            <a:endParaRPr lang="en-US" sz="1400" dirty="0"/>
          </a:p>
          <a:p>
            <a:pPr algn="l" indent="0" marL="0">
              <a:buNone/>
            </a:pPr>
            <a:r>
              <a:rPr lang="en-US" sz="11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[8]  </a:t>
            </a:r>
            <a:pPr algn="l" indent="0" marL="0">
              <a:spcAft>
                <a:spcPts val="300"/>
              </a:spcAft>
              <a:buNone/>
            </a:pPr>
            <a:r>
              <a:rPr lang="en-US" sz="11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Hatcliff, Belt, Robby, McKenzie, Liang, </a:t>
            </a:r>
            <a:pPr algn="l" indent="0" marL="0">
              <a:spcAft>
                <a:spcPts val="300"/>
              </a:spcAft>
              <a:buNone/>
            </a:pPr>
            <a:r>
              <a:rPr lang="en-US" sz="1150" i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End-to-End Formal Methods Integrated Development with SysMLv2 Using HAMR</a:t>
            </a:r>
            <a:pPr algn="l" indent="0" marL="0">
              <a:spcAft>
                <a:spcPts val="300"/>
              </a:spcAft>
              <a:buNone/>
            </a:pPr>
            <a:r>
              <a:rPr lang="en-US" sz="11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FMICS 2025, Springer LNCS 16040, pp. 241–260</a:t>
            </a:r>
            <a:endParaRPr lang="en-US" sz="1400" dirty="0"/>
          </a:p>
          <a:p>
            <a:pPr algn="l" indent="0" marL="0">
              <a:buNone/>
            </a:pPr>
            <a:r>
              <a:rPr lang="en-US" sz="11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[9]  </a:t>
            </a:r>
            <a:pPr algn="l" indent="0" marL="0">
              <a:spcAft>
                <a:spcPts val="300"/>
              </a:spcAft>
              <a:buNone/>
            </a:pPr>
            <a:r>
              <a:rPr lang="en-US" sz="11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Hatcliff, Belt, Robby, Carpenter, </a:t>
            </a:r>
            <a:pPr algn="l" indent="0" marL="0">
              <a:spcAft>
                <a:spcPts val="300"/>
              </a:spcAft>
              <a:buNone/>
            </a:pPr>
            <a:r>
              <a:rPr lang="en-US" sz="1150" i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HAMR: An AADL Multi-platform Code Generation Toolset</a:t>
            </a:r>
            <a:pPr algn="l" indent="0" marL="0">
              <a:spcAft>
                <a:spcPts val="300"/>
              </a:spcAft>
              <a:buNone/>
            </a:pPr>
            <a:r>
              <a:rPr lang="en-US" sz="11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ISoLA 2021, LNCS 13036, pp. 274–295</a:t>
            </a:r>
            <a:endParaRPr lang="en-US" sz="1400" dirty="0"/>
          </a:p>
          <a:p>
            <a:pPr algn="l" indent="0" marL="0">
              <a:buNone/>
            </a:pPr>
            <a:r>
              <a:rPr lang="en-US" sz="11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[10]  </a:t>
            </a:r>
            <a:pPr algn="l" indent="0" marL="0">
              <a:spcAft>
                <a:spcPts val="300"/>
              </a:spcAft>
              <a:buNone/>
            </a:pPr>
            <a:r>
              <a:rPr lang="en-US" sz="11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Lempia &amp; Miller, </a:t>
            </a:r>
            <a:pPr algn="l" indent="0" marL="0">
              <a:spcAft>
                <a:spcPts val="300"/>
              </a:spcAft>
              <a:buNone/>
            </a:pPr>
            <a:r>
              <a:rPr lang="en-US" sz="1150" i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Requirements Engineering Management Handbook</a:t>
            </a:r>
            <a:pPr algn="l" indent="0" marL="0">
              <a:spcAft>
                <a:spcPts val="300"/>
              </a:spcAft>
              <a:buNone/>
            </a:pPr>
            <a:r>
              <a:rPr lang="en-US" sz="11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DOT/FAA/AR-08/32, 2009</a:t>
            </a:r>
            <a:endParaRPr lang="en-US" sz="1400" dirty="0"/>
          </a:p>
          <a:p>
            <a:pPr algn="l" indent="0" marL="0">
              <a:buNone/>
            </a:pPr>
            <a:r>
              <a:rPr lang="en-US" sz="11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[11]  </a:t>
            </a:r>
            <a:pPr algn="l" indent="0" marL="0">
              <a:spcAft>
                <a:spcPts val="300"/>
              </a:spcAft>
              <a:buNone/>
            </a:pPr>
            <a:r>
              <a:rPr lang="en-US" sz="11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INSPECTA models: github.com/loonwerks/INSPECTA-models</a:t>
            </a:r>
            <a:endParaRPr lang="en-US" sz="1400" dirty="0"/>
          </a:p>
          <a:p>
            <a:pPr algn="l" indent="0" marL="0">
              <a:spcBef>
                <a:spcPts val="1200"/>
              </a:spcBef>
              <a:spcAft>
                <a:spcPts val="400"/>
              </a:spcAft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Verification &amp; platform</a:t>
            </a:r>
            <a:endParaRPr lang="en-US" sz="1400" dirty="0"/>
          </a:p>
          <a:p>
            <a:pPr algn="l" indent="0" marL="0">
              <a:buNone/>
            </a:pPr>
            <a:r>
              <a:rPr lang="en-US" sz="11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[12]  </a:t>
            </a:r>
            <a:pPr algn="l" indent="0" marL="0">
              <a:spcAft>
                <a:spcPts val="300"/>
              </a:spcAft>
              <a:buNone/>
            </a:pPr>
            <a:r>
              <a:rPr lang="en-US" sz="11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Lattuada, Hance, Cho, Brun, Subasinghe, Zhou, Howell, Parno, Hawblitzel, </a:t>
            </a:r>
            <a:pPr algn="l" indent="0" marL="0">
              <a:spcAft>
                <a:spcPts val="300"/>
              </a:spcAft>
              <a:buNone/>
            </a:pPr>
            <a:r>
              <a:rPr lang="en-US" sz="1150" i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Verus: Verifying Rust Programs using Linear Ghost Types</a:t>
            </a:r>
            <a:pPr algn="l" indent="0" marL="0">
              <a:spcAft>
                <a:spcPts val="300"/>
              </a:spcAft>
              <a:buNone/>
            </a:pPr>
            <a:r>
              <a:rPr lang="en-US" sz="11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PACMPL 7 (OOPSLA1), 2023</a:t>
            </a:r>
            <a:endParaRPr lang="en-US" sz="1400" dirty="0"/>
          </a:p>
          <a:p>
            <a:pPr algn="l" indent="0" marL="0">
              <a:buNone/>
            </a:pPr>
            <a:r>
              <a:rPr lang="en-US" sz="11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[13]  </a:t>
            </a:r>
            <a:pPr algn="l" indent="0" marL="0">
              <a:spcAft>
                <a:spcPts val="300"/>
              </a:spcAft>
              <a:buNone/>
            </a:pPr>
            <a:r>
              <a:rPr lang="en-US" sz="11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Klein et al., </a:t>
            </a:r>
            <a:pPr algn="l" indent="0" marL="0">
              <a:spcAft>
                <a:spcPts val="300"/>
              </a:spcAft>
              <a:buNone/>
            </a:pPr>
            <a:r>
              <a:rPr lang="en-US" sz="1150" i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seL4: Formal Verification of an OS Kernel</a:t>
            </a:r>
            <a:pPr algn="l" indent="0" marL="0">
              <a:spcAft>
                <a:spcPts val="300"/>
              </a:spcAft>
              <a:buNone/>
            </a:pPr>
            <a:r>
              <a:rPr lang="en-US" sz="11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SOSP 2009, pp. 207–220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23</Slides>
  <Notes>23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23</vt:i4>
      </vt:variant>
    </vt:vector>
  </HeadingPairs>
  <TitlesOfParts>
    <vt:vector size="2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2026-09-04T15:23:53Z</dcterms:created>
  <dcterms:modified xsi:type="dcterms:W3CDTF">2026-09-04T15:23:53Z</dcterms:modified>
</cp:coreProperties>
</file>
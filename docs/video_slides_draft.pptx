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Subtitle deliberately names the four core artifact classes - the deck's first echo of the artifact-class table (slide 6). Optional footer: INSPECTA program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the audience every demo scene echoes the banner.
The administrator's bless survives 'every': authority enters the system only AS signed evidence (the blessed baseline), never by assertion - scene 6's laundering beat proves exactly that.
Subline payoffs: developer claims -&gt; scenes 5/7; untrusted tools -&gt; scene 7; LLM outputs -&gt; capstone slides A/B; cached verdicts -&gt; scene 11.
Visual TODO: three-stage widening-scope progression (boot-time -&gt; layered runtime -&gt; lifecycle loop) to replace/join the bullets.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seconds on first appearance; afterwards it rides on transition slides for free.
Design decision: one master/layout holds the strip text so a section rename is a single edit. Header titles are provisional.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phrase of 'what this layer contributes' each; asp-libs has its own layer box; keep it to one spoken clause (its inventory returns as a star of capstone slide B).
On the snippet: 'you don't need to read this - you need to know it's a formal object with an evidence semantics.' Measure the five blessed model files, sign the evidence, appraise it.
Snippet source: tests/fixtures/isolette_sysmlv2_rust_props/term.json, rendered in concrete syntax (branches flattened, target IDs shortened to file names - cosmetic).
The verus-tier measure-then-use phrase is deliberately held back for scene 7's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vocabulary minimal: entry, episode, knowledge source, ladder, escalate. Everything else is detail the scenes show live.
Semantics verified against the pybb README control flow: green = on-pass (results return to the Controller; standing re-established only by its re-evaluation, with restart-episode forcing genuinely fresh measurement); red = on-fail (handoff on exhaustion with changes restored; exhausted routes escalate; provision requests have no repair chains and escalate immediately - the readiness-gate refusal).
The Administrator blessing box is dashed/white: a human, out-of-band authority act, not a component in the measured loop - only exit from a refused baseline (scene 6).
Speaker-note-only details (cut from the slide): on_pass/on_fail dispatch mechanics, success-driven handoff for component-wise entries, max_attempts per rung.
The legend earns its space: every scene's checklist frames render through these glyphs.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audience's glossary for the terminal scenes - point back at the slide-5 diagram while reading it.
Entry keys in the real demos are the provisioned protocols: ready (the readiness gate), isolette_sysmlv2_rust_props (blessed model), _l1a (file hashes), _l2 (contract slices), _verus, _cheat, _sysproof, _gensrc, _report. Every row of the checklist the audience is about to watch is one of these keys.
Predicate and restart-episode are deliberately OFF this slide (parked; placement TBD - possibly an 'evaluation primitives' strip). If asked: a predicate is the judge (one evaluation = one attestation episode), restart-episode is the freshness primitive (forget memoized verdicts, reset, re-evaluate).
Also deliberately excluded (README-level detail): partition mechanics, component-wise entries and success handoff, dispatch latching, max_cycles.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two rows are the surprising ones - scenes 6-7 exist for them.
Spoken hook (never on-slide text): 'This table is deliberately incomplete - the demo will show why.' The cheat / sysproof / gensrc tiers are capstone slide C's punchline: attacks forced them into existence. Do not pre-introduce them here.
Same column shape (class -&gt; measured how -&gt; judged by -&gt; repair) as capstone slide B, so the audience recognizes it when it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section transition into the demo (strip: Demo segment highlighted).
The tiers callout is the bridge: these keys are the glossary's entry keys, and every checklist row in the scenes is one of them.
Spoken line on the why-beat: 'the table you just saw, instantiated.'
Held back on purpose (scene 9's reveal): cheat-tier depth stats - 86 blessed external_body sites, 10 scanned crates.
Numbers verified exact 2026-08-25 (l1a targets, l2 slices, verus term, pub-proof-fn count); provision-dependent - re-verify before recording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readiness gate green -&gt; one full episode -&gt; per-crate checklist all green. Dwell on the final checklist - it is the frame every later refusal is compared against.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benign beat (per user deck edit, restored 2026-08-27): the Table A-12 upper-alarm ceiling widened 102 -&gt; 103 in the shared GUMBO library constant. Beats: appraisal fails, gumbo_library attributed, all else green (dwell: 'sanction, not semantics') -&gt; ruling diff -&gt; bless -&gt; spec-first green -&gt; promote (real codegen; speed-ramp) -&gt; re-proves ALL GREEN; offered diff = the regenerated shared-library constant. The breaking spec beat lives elsewhere (breaking-impl is Act V/scene 2, breaking-contract is Act IV/scene 14), so Act II stays the clean benign-model story.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equivalent NORMAL-mode guard rewrite (x&gt;y -&gt; y&lt;x), outside every marker block -&gt; l1a hash moves -&gt; files entry passes via l2 refinement (slices intact) -&gt; the l1b contracts entry stays clean -&gt; confirmation chain RE-VERIFIES the rewrite green. The mirror of Act II's benign spec beat, one artifact class down: a developer-owned region has no blessed bytes to match, so its attested properties are contracts (intact) + provability (re-verified live).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report emits NO slice for compute_cases realizations, so the weakened REQ_MHS_2 lands between l2 slices. Beats: launder (weaken REQ_MHS_2 ensures + invert impl) -&gt; cargo-verus SUCCEEDS (self-consistent) -&gt; the l1b MARKER tier (a new Copland protocol: readfile_marker_range over every contract-block byte) refuses -&gt; its repair rung splices the golden contract back -&gt; the restored TRUE contract refutes the still-inverted impl: end on the exposed Verus refusal (verus_targ Appraisal was not successful). Discovered while building this demo; the marker-coverage lint now enforces the invariant. Do NOT auto-repair to green - the exposure IS the beat; the impl repair is Act V's ladder. Slide-C candidate row.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dummy-bad-impl diff (take the [v]iew - VSCode diff D1 on camera) -&gt; contracts-intact rung exhausts -&gt; impl rung restores crate-scoped -&gt; restart -&gt; re-attested clean.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6 beats: three tampers, three attributed refusals (signature -&gt; anchor -&gt; derivability); optionally the flipped-evidence-byte diff on camera. Scene 7 beats: wrapper edit (take the [v]iew, diff D10) -&gt; readiness still passes -&gt; tool hash refutes, every proof cell poisons to ? - dwell, this is the act's money shot. --restore-tools recovery in VO only.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detector escalation that closes the demo. BEAT 1 (scene 9, axioms): two-grid view - the verus grid all green (cargo-verus succeeds) beside the proof-escape grid refusing the exact crate and naming the construct (ADMIT: assume 0-&gt;1; SMUGGLE: broadcast 0-&gt;1, external_body 0-&gt;1). The CHEAT SCAN catches what the outcome cannot - a construct appeared. BEAT 2 (scene 12, FFI): the heat command inverted behind external_body (diff D18) -&gt; every proof passes AND the cheat scan is SILENT (no construct) -&gt; only the GENSRC byte anchor refuses, naming the file -&gt; diagnosis rung classifies -&gt; repair by regeneration (speed-ramp). Three detectors, three blind spots: outcome (blind to both), construct scan (catches beat 1), byte anchor (catches beat 2). Close naming scenes 10-11 (slide C carries the rest).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High-level breadth slide (section 3 opener) - card grid, per user edits 2026-08-30. Four artifact pipelines: the isolette (SysML-&gt;HAMR-&gt;Rust/Verus, the demo, highlighted), AADL-&gt;HAMR-&gt;Slang/Logika (temp-control), standalone Rust/Verus (find-max-verus; AutoVerus + KU Dogtreat repair experiments), and the interactive theorem provers Lean &amp; Rocq (blessed statements, tactic/LLM repair). Title = the artifact pipeline; caption = example system(s). Repair-strategy breadth lands per-card where it defines the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1 of 3 (theme: 'AI in the loop' as the big title, a descriptive caption beneath - B and C reuse the header).
One idea: AI helps everywhere EXCEPT the judges. The top three stages (model, implementation, proofs) are AI-assisted; the bottom two (verification/appraisal, evidence/trust state) are AI-free by design - the shaded band.
The Proofs row is where the repair-strategy breadth lands (deferred from the ecosystems slide): tactic portfolio, LLM (API + desktop sessions), AutoVerus, KU Dogtreat linear planner.
Motivation flip (speaker, sets up the close): as more lifecycle artifacts ARE AI-generated, lifecycle attestation is what makes them trustworthy - provenance and evidence, not provider assurances.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2 of 3 (theme: 'AI in the loop' big title + caption). The one idea: AI built the entire attestation stack, and that stack is held to the same measured discipline it enforces.
Counts current 2026-08-30: 12 new + 7 upgraded asp-libs binaries (git-attested, separate repo); 42 provisioned Copland protocol dirs (the newest, the l1b marker tier, was built in this very session - a callback available if wanted); 7 red-team attack classes.
cvm-mcp aside (15 s): an AI-built MCP interface so AI agents can drive attestation - AI both built the loop and can drive it.
Git provenance deliberately de-emphasized per user; the point is the self-application (the reflexive footer), not the Co-Authored-By trailers.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Collection point for every reference in the deck - keep this slide current as sections are added (isolette slide carries the K-State + AR-08-32 citations inline; Copland/Verus/seL4 seeded here ahead of their sections).
DOIs on record in docs/video_slide_drafts.md.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Attestation with pybb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trust across models, contracts, implementations, and proofs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  ·  affiliation  ·  date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lifecycle attestation?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972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remote attestation: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system components boot into a predictable state?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(boot-time, static runtime)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runtime attestation: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boot-time trust via dynamic measurement of system components </a:t>
            </a:r>
            <a:pPr algn="l"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their context/dependencies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attestation: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this notion to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of the development lifecycle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models, contracts, implementations, proofs, toolchains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…including the attestation infrastructure and evidence itself</a:t>
            </a:r>
            <a:endParaRPr lang="en-US" sz="1700" dirty="0"/>
          </a:p>
          <a:p>
            <a:pPr algn="l" lvl="1" marL="685800" indent="-342900"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lifecycle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drift (sanctioned or not)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tampering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synthesis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repair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AI-generated software artifacts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amid the need for rapid re-certification of systems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507492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507492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 decision is grounded in cryptographic attestation evidence.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NOT anchored in the following:  developer claims, untrusted tools, LLM outputs, cached verdicts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headers provisional — the strip returns at every act transition with the current section highlighted.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attestation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325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protocols as formal terms with an evidence semantics: what was measured, in what order, signed by whom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337560" y="2340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3A4A8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06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CVM — Copland Virtual Machine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Copland phrases · dispatches ASPs according to manifest configurations · appraises results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3756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56659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886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appraisal primitives: hash, readfile, signature, golden comparison, …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37560" y="4764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029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evidence bundles</a:t>
            </a:r>
            <a:pPr algn="l"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appraised against </a:t>
            </a:r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baselines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protocol from the demo — the isolette model class: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828800"/>
            <a:ext cx="4754880" cy="22860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95160" y="18288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readfile Regulate.sysml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Monitor.sysml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Operator_Interface.sysml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oip_oit_app.rs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GUMBO_Library 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SIG -&gt; APPR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five blessed model files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sign the evidence (SIG)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appraise it (APPR)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a blackboard architecture for attestation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383280" y="1024128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3383280" y="1024128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blessing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(signs golden spec)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931920" y="1591056"/>
            <a:ext cx="914" cy="3108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4041648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 ⇒ provision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74320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19202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0" y="27432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0" y="37490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2064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H="1">
            <a:off x="2487168" y="22860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87168" y="2286000"/>
            <a:ext cx="914" cy="182880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487168" y="41148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228600" y="3977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repair chain:</a:t>
            </a:r>
            <a:endParaRPr lang="en-US" sz="1000" dirty="0"/>
          </a:p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⇒ escalate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H="1">
            <a:off x="1417320" y="2148840"/>
            <a:ext cx="132588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7320" y="2148840"/>
            <a:ext cx="914" cy="566928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⇒ re-measure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0" y="27432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(evaluate = episode)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498080" y="3246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2354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6012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3" name="Text 31"/>
          <p:cNvSpPr/>
          <p:nvPr/>
        </p:nvSpPr>
        <p:spPr>
          <a:xfrm>
            <a:off x="96012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2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070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728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109728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046720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→ = on-fail handoff (attempts spent, changes restored)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 flipV="1">
            <a:off x="87325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01041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14757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675120" y="2103120"/>
            <a:ext cx="480060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75120" y="2103120"/>
            <a:ext cx="914" cy="59436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585216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on-pass: re-verify · restart-episode ⇒ fresh measurement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1475720" y="3657600"/>
            <a:ext cx="914" cy="105156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931920" y="4709160"/>
            <a:ext cx="754380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3931920" y="4498848"/>
            <a:ext cx="914" cy="210312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658368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rungs exhausted → escalate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00800" y="3657600"/>
            <a:ext cx="914" cy="182880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417320" y="5486400"/>
            <a:ext cx="4983480" cy="914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417320" y="3675888"/>
            <a:ext cx="914" cy="1810512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51" name="Text 49"/>
          <p:cNvSpPr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⇒ run measurement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0080" y="598932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5989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ladder: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rung's exhaustion is a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diagnosis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failure— every repair is 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only by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re-measurement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961120" y="5989320"/>
            <a:ext cx="2560320" cy="731520"/>
          </a:xfrm>
          <a:prstGeom prst="roundRect">
            <a:avLst>
              <a:gd name="adj" fmla="val 875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098280" y="59893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attested   ✗ refuted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 poisoned (fail-closed)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key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shared store: every measurement lands as an entry with its condition and standing; three segments (provision · certify · escalate) plus a full history of every change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Entry (Key)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measurement under judgment, identified by its key: the measurement, its condition, its standing, its repair history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full judgment of an entry: the attestation runs once and its verdicts are memoized until the episode ends — or is restarted for genuinely fresh measurement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division of blackboard entries among different workflow stages: each knowledge source watches its own collection of keys, and an entry sits in the partition of whichever rung currently owns it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cycle: evaluates every entry (provision first), dispatches keys onto outcome-routed chains, advances or hands off, escalates; halts only when everything is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source (KS)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repair rung: operates only on entries in its partition (optionally a single component), bounded by max_attempts; its work is always re-judged, never trusted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per-key chains: on_fail = the repair ladder, on_pass = a confirmation chain before an entry may rest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/ Ledger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blackboard's running record of every change across all segments — measurements, repairs, verdicts — the audit trail of the repair lifecycle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 classes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017520"/>
                <a:gridCol w="301752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whole-file hash of spec files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from golden — or </a:t>
                      </a:r>
                      <a:pPr algn="l" indent="0" marL="0">
                        <a:buNone/>
                      </a:pPr>
                      <a:r>
                        <a:rPr lang="en-US" sz="125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(sanctioned change)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syntax-guided file slices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slice-level appraisal, attributed by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golden slice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developer-owned 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+ verification of contracts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/ Verification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verification 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 — fresh, never cached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measure-then-use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tool hash(es), taken in the same term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out-of-band or pre-sanctioned restore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state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bundles, goldens, signatures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 or derived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principled refusal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out-of-band re-bless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95097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isolette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10512"/>
            <a:ext cx="61539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</a:t>
            </a:r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infant-incubator thermostat — regulate and monitor functions keep a newborn's environment in a safe temperature range; heat control on/off</a:t>
            </a:r>
            <a:endParaRPr lang="en-US" sz="13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traceable to FAA AR-08-32 (the REQ-MHS-* family the scenes will tamper with)</a:t>
            </a:r>
            <a:endParaRPr lang="en-US" sz="1350" dirty="0"/>
          </a:p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INSPECTA program's seL4/Microkit exemplar — a real, current, safety-critical development artifact, not a toy built for this talk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model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GUMBO contracts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879092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26564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8" name="Text 16"/>
          <p:cNvSpPr/>
          <p:nvPr/>
        </p:nvSpPr>
        <p:spPr>
          <a:xfrm>
            <a:off x="2226564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65576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13048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1" name="Text 19"/>
          <p:cNvSpPr/>
          <p:nvPr/>
        </p:nvSpPr>
        <p:spPr>
          <a:xfrm>
            <a:off x="3813048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Verus-verified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52060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99532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4" name="Text 22"/>
          <p:cNvSpPr/>
          <p:nvPr/>
        </p:nvSpPr>
        <p:spPr>
          <a:xfrm>
            <a:off x="5399532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50292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example: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from the previous slide is present and measured — blessed model, generated contracts, developer-owned implementation, machine-checked proofs, pinned toolchain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623620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040880" y="13258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measured surface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040880" y="162763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78040" y="162763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202168" y="1627632"/>
            <a:ext cx="32735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files (SysML packages + contract-bearing Rust)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040880" y="2377440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78040" y="2377440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458200" y="237744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slices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040880" y="3127248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78040" y="3127248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8458200" y="3127248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crates re-verified every episode (7 components + the system proof)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040880" y="3877056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78040" y="3877056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1,862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8458200" y="3877056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system-proof obligations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040880" y="4626864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78040" y="4626864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8458200" y="462686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+ dependency files hashed measure-then-use (4 Verus · 9 HAMR · 17 SysML libs)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040880" y="537667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78040" y="537667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8458200" y="5376672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tiers — the glossary's entry keys: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· l1a · l2 · verus · cheat · sysproof · gensrc · report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consistent baseline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artifacts start in a “pass” state:  all artifacts have integrity against golden values and implementations meet their contracts.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 drift: benign, promote then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3 (expand allowed temperature range)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benign change in requirements — the temperature alarm range widened — model appraisal fails quickly.  Administrator re-blesses new spec, all contract appraisals again pass.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3 --drift range         (ruling at the prompt: bless)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benign,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rewrites implementation logic — semantically equivalent. The hash moves, but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contract slice maintains integrity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proofs re-verify: the benign change survives.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drift: breaking, restore then attempt re-verification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untouched, but a Verus contract is weakened (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codegen, but before verification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the code is inverted to match — verus checks pass.  Contract repair (restoring the true Verus contract) exposes the verification failure.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14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breaking, diagnose then repair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code (developer-owned) changes, breaking a Verus contract.  Blackboard loop diagnoses, repairs (simulated for demo), then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artifact to good standing only by re-measurement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drift:  tampered evidence bundle, protocol, tooling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6 + 7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 golden evidence bundle, an installed golden value in the protocol ASP ARGS, then the verifier itself — each tamper attributed, each refused by cryptographic checks.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"6 7"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Axiom drift:  semantic measurement detects axioms and unsound proof techniques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9 + 12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Proofs verify, but measurement detects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subtle ways that proof attempts cheat 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undermine verification soundness.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"9 12"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blackboard, many artifact pipelines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blackboard, controller, repair ladder, and artifact classes don’t change — only the </a:t>
            </a:r>
            <a:pPr indent="0" marL="0">
              <a:buNone/>
            </a:pPr>
            <a:r>
              <a:rPr lang="en-US" sz="15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around them does</a:t>
            </a:r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modeling language, the prover, the target runtime, and the attestation primitives.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5564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 v2 → HAMR → Rust / Verus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77824" y="210312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</a:t>
            </a:r>
            <a:pPr algn="l" indent="0" marL="0">
              <a:buNone/>
            </a:pPr>
            <a:r>
              <a:rPr lang="en-US" sz="105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◀ the demo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GUMBO component contracts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 runtime target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measured — the full demo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75564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 → HAMR → Slang / Logika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501384" y="210312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temp-control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 GUMBO component contracts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JVM runtime target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blackboard, similar Copland protocols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0690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17880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Rust / Verus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77824" y="45262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find-max-verus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14400" y="484632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+ proofs written directly in Verus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model, no codegen — implementation + proof classes only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Proof-repair experiments: AutoVerus, KU Dogtreat linear planner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40690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417880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Theorem Provers:  Lean / Rocq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501384" y="45262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landing-gear, temp-control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37960" y="484632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Blessed theorem statements, workflow-owned implementations, proofs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Tactic-driven and LLM-driven proof repair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Goal-directed: attestation enforces one invariant while synthesis iterates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ITP-specific axiom checks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in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artifact synthesis/repair;  verified, deterministic appraisal</a:t>
            </a:r>
            <a:endParaRPr lang="en-US" sz="1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48056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AI participates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rule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/ spec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LLMs may draft or restate specs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the administrator 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blesses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authority is human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spec-guided synthesis / re-derivation with LLM engines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seed proofs must prove again against the blessed statements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LLM-suggested tactic portfolio (deterministic at runtime) · LLM API calls + LLM-assisted desktop sessions (loop is paused) · Custom proof repair agents (AutoVerus · KU Dogtreat linear planner)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repair claim is worthless without evidence; only fresh measurement re-establishes good standing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&amp; appraisal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by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judges: proof kernels (Rocq, Lean, Verus), hash appraisal vs signed goldens, semantic analysis of source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/ trust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by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cryptographic anchor · non-derivability; no one (human or AI) may repair a baseline without fresh administrator blessing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the bottom two — the judges — are AI-free by design</a:t>
            </a:r>
            <a:pPr algn="l" indent="0" marL="0">
              <a:buNone/>
            </a:pPr>
            <a:r>
              <a:rPr lang="en-US" sz="12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an LLM’s output is just another untrusted artifact, facing the same episode and appraisal as a human edit or a tamper. Guarantees never depend on LLM engines being good, honest, or even present.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built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and attestation infrastructure, artifact measurements, attestation protocols, attacks</a:t>
            </a:r>
            <a:endParaRPr lang="en-US" sz="1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120640"/>
                <a:gridCol w="33832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AI built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Blackboard infrastructure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pybb framework (blackboard / controller / knowledge sources), demo arcs, install script, CI suite, detailed documentation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Untrusted orchestration (evidence bundles are independently-verifiable)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CVM core &amp; frontends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bpar (parallel Copland term) </a:t>
                      </a:r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the verified CVM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--stdin / --req_file frontend fixes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Rocq proofs w.r.t. CVM reference semantics --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couldn’t update existing proofs automatically, but assisted an expert Rocq developer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 primitives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new + 7 upgraded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asp-libs binaries — hashing, the Lean/Rocq/HAMR runners &amp; appraisers, the cheat scan, golden-slice extraction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hashes measure-then-use; syntax-guided analysis of source files, appraisal vs signed goldens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Attestation protocols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provisioned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Copland protocol directories across the ecosystems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readiness-gate config checks; blessed baselines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scripted demo tampers (scenes 1–8) + 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red-team attack classes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(scenes 9–12, 14)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scene gates on detection / attribution; each forced a new tier (</a:t>
                      </a:r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next slide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virtuous cycle – </a:t>
            </a:r>
            <a:pPr algn="l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workflow to add (deterministic) tools and domain-specific measurement capabilities.  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&amp; HAMR (Kansas State)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13036, pp. 274–295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Lempia &amp; Miller,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Engineering Management Handbook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DOT/FAA/AR-08/32, 2009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INSPECTA models: github.com/loonwerks/INSPECTA-models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foundations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Ramsdell, Rowe, Alexander, Helble, Loscocco, Pendergrass, Petz,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Orchestrating Layered Attestations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POST 2019, LNCS 11426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platform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Lattuada, Hance, Cho, Brun, Subasinghe, Zhou, Howell, Parno, Hawblitzel,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Verus: Verifying Rust Programs using Linear Ghost Types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PACMPL 7 (OOPSLA1), 2023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et al.,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seL4: Formal Verification of an OS Kernel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SOSP 2009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2026-09-01T15:35:55Z</dcterms:created>
  <dcterms:modified xsi:type="dcterms:W3CDTF">2026-09-01T15:35:55Z</dcterms:modified>
</cp:coreProperties>
</file>
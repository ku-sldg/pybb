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8"/>
  </p:notesMasterIdLst>
  <p:sldIdLst>
    <p:sldId id="256" r:id="rId2"/>
    <p:sldId id="257" r:id="rId3"/>
    <p:sldId id="258" r:id="rId4"/>
    <p:sldId id="259" r:id="rId5"/>
    <p:sldId id="260" r:id="rId6"/>
    <p:sldId id="261" r:id="rId7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22" d="100"/>
          <a:sy n="122" d="100"/>
        </p:scale>
        <p:origin x="392" y="20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90067715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Title card. Subtitle deliberately names the four core artifact classes - the deck's first echo of the artifact-class table (slide 6). Optional footer: INSPECTA program context.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Promise the audience every demo scene echoes the banner.
The administrator's bless survives 'every': authority enters the system only AS signed evidence (the blessed baseline), never by assertion - scene 6's laundering beat proves exactly that.
Subline payoffs: developer claims -&gt; scenes 5/7; untrusted tools -&gt; scene 7; LLM outputs -&gt; capstone slides A/B; cached verdicts -&gt; scene 11.
Visual TODO: three-stage widening-scope progression (boot-time -&gt; layered runtime -&gt; lifecycle loop) to replace/join the bullets.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~15 seconds on first appearance; afterwards it rides on transition slides for free.
Design decision: one master/layout holds the strip text so a section rename is a single edit. Header titles are provisional.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One phrase of 'what this layer contributes' each; asp-libs has its own layer box; keep it to one spoken clause (its inventory returns as a star of capstone slide B).
On the snippet: 'you don't need to read this - you need to know it's a formal object with an evidence semantics.' Measure the five blessed model files, sign the evidence, appraise it.
Snippet source: tests/fixtures/isolette_sysmlv2_rust_props/term.json, rendered in concrete syntax (branches flattened, target IDs shortened to file names - cosmetic).
The verus-tier measure-then-use phrase is deliberately held back for scene 7's reveal.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Keep the vocabulary minimal: entry, episode, knowledge source, ladder, escalate. Everything else is detail the scenes show live.
Semantics verified against the pybb README control flow: green = on-pass (results return to the Controller; standing re-established only by its re-evaluation, with restart-episode forcing genuinely fresh measurement); red = on-fail (handoff on exhaustion with changes restored; exhausted routes escalate; provision requests have no repair chains and escalate immediately - the readiness-gate refusal).
The Administrator blessing box is dashed/white: a human, out-of-band authority act, not a component in the measured loop - only exit from a refused baseline (scene 6).
Speaker-note-only details (cut from the slide): on_pass/on_fail dispatch mechanics, success-driven handoff for component-wise entries, max_attempts per rung.
The legend earns its space: every scene's checklist frames render through these glyphs.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audience's glossary for the terminal scenes - point back at the slide-5 diagram while reading it.
Predicate and restart-episode are deliberately OFF this slide (parked; placement TBD - possibly an 'evaluation primitives' strip). If asked: a predicate is the judge (one evaluation = one attestation episode), restart-episode is the freshness primitive (forget memoized verdicts, reset, re-evaluate).
Also deliberately excluded (README-level detail): partition mechanics, component-wise entries and success handoff, dispatch latching, max_cycles.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2194560"/>
            <a:ext cx="10515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Lifecycle Attestation with pybb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822960" y="329184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0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Measured trust across models, contracts, implementations, and proofs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822960" y="576072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Presenter name  ·  affiliation  ·  date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is lifecycle attestation?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640080" y="1325880"/>
            <a:ext cx="1097280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 algn="l">
              <a:buSzPct val="100000"/>
              <a:buChar char="•"/>
            </a:pPr>
            <a:r>
              <a:rPr lang="en-US" sz="1700" b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Traditional remote attestation: did system components boot into a predictable state?</a:t>
            </a:r>
            <a:r>
              <a:rPr lang="en-US" sz="17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(boot-time, static runtime)</a:t>
            </a:r>
            <a:endParaRPr lang="en-US" sz="1700" dirty="0"/>
          </a:p>
          <a:p>
            <a:pPr marL="342900" indent="-342900" algn="l">
              <a:buSzPct val="100000"/>
              <a:buChar char="•"/>
            </a:pPr>
            <a:r>
              <a:rPr lang="en-US" sz="1700" b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Layered, runtime attestation: </a:t>
            </a:r>
            <a:r>
              <a:rPr lang="en-US" sz="17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extend boot-time trust via dynamic measurement of system components </a:t>
            </a:r>
            <a:r>
              <a:rPr lang="en-US" sz="1700" b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 their context/dependencies</a:t>
            </a:r>
            <a:endParaRPr lang="en-US" sz="1700" dirty="0"/>
          </a:p>
          <a:p>
            <a:pPr marL="342900" indent="-342900" algn="l">
              <a:buSzPct val="100000"/>
              <a:buChar char="•"/>
            </a:pPr>
            <a:r>
              <a:rPr lang="en-US" sz="1700" b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Lifecycle attestation: </a:t>
            </a:r>
            <a:r>
              <a:rPr lang="en-US" sz="17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extends this notion to </a:t>
            </a:r>
            <a:r>
              <a:rPr lang="en-US" sz="1700" b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artifacts of the development lifecycle</a:t>
            </a:r>
            <a:r>
              <a:rPr lang="en-US" sz="17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models, contracts, implementations, proofs, toolchains</a:t>
            </a:r>
            <a:endParaRPr lang="en-US" sz="1700" dirty="0"/>
          </a:p>
          <a:p>
            <a:pPr marL="685800" lvl="1" indent="-342900" algn="l">
              <a:spcAft>
                <a:spcPts val="1000"/>
              </a:spcAft>
              <a:buSzPct val="100000"/>
              <a:buChar char="–"/>
            </a:pPr>
            <a:r>
              <a:rPr lang="en-US" sz="17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…including the attestation infrastructure and evidence itself</a:t>
            </a:r>
            <a:endParaRPr lang="en-US" sz="1700" dirty="0"/>
          </a:p>
          <a:p>
            <a:pPr marL="685800" lvl="1" indent="-342900" algn="l">
              <a:buSzPct val="100000"/>
              <a:buChar char="–"/>
            </a:pPr>
            <a:r>
              <a:rPr lang="en-US" sz="17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…and to lifecycle </a:t>
            </a:r>
            <a:r>
              <a:rPr lang="en-US" sz="1700" b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events</a:t>
            </a:r>
            <a:r>
              <a:rPr lang="en-US" sz="17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</a:t>
            </a:r>
            <a:endParaRPr lang="en-US" sz="1700" dirty="0"/>
          </a:p>
          <a:p>
            <a:pPr marL="1028700" lvl="2" indent="-342900" algn="l">
              <a:spcAft>
                <a:spcPts val="200"/>
              </a:spcAft>
              <a:buSzPct val="100000"/>
              <a:buChar char="▪"/>
            </a:pPr>
            <a:r>
              <a:rPr lang="en-US" sz="17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specification drift (sanctioned or not)</a:t>
            </a:r>
            <a:endParaRPr lang="en-US" sz="1700" dirty="0"/>
          </a:p>
          <a:p>
            <a:pPr marL="1028700" lvl="2" indent="-342900" algn="l">
              <a:spcAft>
                <a:spcPts val="200"/>
              </a:spcAft>
              <a:buSzPct val="100000"/>
              <a:buChar char="▪"/>
            </a:pPr>
            <a:r>
              <a:rPr lang="en-US" sz="17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artifact tampering</a:t>
            </a:r>
            <a:endParaRPr lang="en-US" sz="1700" dirty="0"/>
          </a:p>
          <a:p>
            <a:pPr marL="1028700" lvl="2" indent="-342900" algn="l">
              <a:spcAft>
                <a:spcPts val="200"/>
              </a:spcAft>
              <a:buSzPct val="100000"/>
              <a:buChar char="▪"/>
            </a:pPr>
            <a:r>
              <a:rPr lang="en-US" sz="17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artifact synthesis</a:t>
            </a:r>
            <a:endParaRPr lang="en-US" sz="1700" dirty="0"/>
          </a:p>
          <a:p>
            <a:pPr marL="1028700" lvl="2" indent="-342900" algn="l">
              <a:spcAft>
                <a:spcPts val="200"/>
              </a:spcAft>
              <a:buSzPct val="100000"/>
              <a:buChar char="▪"/>
            </a:pPr>
            <a:r>
              <a:rPr lang="en-US" sz="17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artifact repair</a:t>
            </a:r>
            <a:endParaRPr lang="en-US" sz="1700" dirty="0"/>
          </a:p>
          <a:p>
            <a:pPr marL="342900" indent="-342900" algn="l">
              <a:buSzPct val="100000"/>
              <a:buChar char="•"/>
            </a:pPr>
            <a:r>
              <a:rPr lang="en-US" sz="1700" b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Motivation: </a:t>
            </a:r>
            <a:r>
              <a:rPr lang="en-US" sz="17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</a:t>
            </a:r>
            <a:r>
              <a:rPr lang="en-US" sz="1700" b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proliferation of AI-generated software artifacts</a:t>
            </a:r>
            <a:r>
              <a:rPr lang="en-US" sz="17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amid the need for rapid re-certification of systems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640080" y="5074920"/>
            <a:ext cx="10881360" cy="1234440"/>
          </a:xfrm>
          <a:prstGeom prst="roundRect">
            <a:avLst>
              <a:gd name="adj" fmla="val 5926"/>
            </a:avLst>
          </a:prstGeom>
          <a:solidFill>
            <a:srgbClr val="1E276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914400" y="5074920"/>
            <a:ext cx="103327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spcAft>
                <a:spcPts val="400"/>
              </a:spcAft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trust decision is grounded in cryptographic attestation evidence.</a:t>
            </a:r>
            <a:endParaRPr lang="en-US" sz="2000" dirty="0"/>
          </a:p>
          <a:p>
            <a:pPr marL="0" indent="0" algn="ctr">
              <a:buNone/>
            </a:pPr>
            <a:r>
              <a:rPr lang="en-US" sz="14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trust is NOT anchored in the following:  developer claims, untrusted tools, LLM outputs, cached verdicts</a:t>
            </a:r>
            <a:endParaRPr lang="en-US" sz="2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Roadmap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640080" y="2834640"/>
            <a:ext cx="2044598" cy="777240"/>
          </a:xfrm>
          <a:prstGeom prst="roundRect">
            <a:avLst>
              <a:gd name="adj" fmla="val 8235"/>
            </a:avLst>
          </a:prstGeom>
          <a:solidFill>
            <a:srgbClr val="1E276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640080" y="2834640"/>
            <a:ext cx="2044598" cy="7772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Preliminaries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2629814" y="2834640"/>
            <a:ext cx="274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849270" y="2834640"/>
            <a:ext cx="2044598" cy="777240"/>
          </a:xfrm>
          <a:prstGeom prst="roundRect">
            <a:avLst>
              <a:gd name="adj" fmla="val 8235"/>
            </a:avLst>
          </a:prstGeom>
          <a:solidFill>
            <a:srgbClr val="CADCF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2849270" y="2834640"/>
            <a:ext cx="2044598" cy="7772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marL="0" indent="0" algn="ctr">
              <a:buNone/>
            </a:pPr>
            <a:r>
              <a:rPr lang="en-US" sz="135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Demo:</a:t>
            </a:r>
            <a:endParaRPr lang="en-US" sz="1350" dirty="0"/>
          </a:p>
          <a:p>
            <a:pPr marL="0" indent="0" algn="ctr">
              <a:buNone/>
            </a:pPr>
            <a:r>
              <a:rPr lang="en-US" sz="135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Isolette (SysMLv2 → Rust)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4839005" y="2834640"/>
            <a:ext cx="274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5058461" y="2834640"/>
            <a:ext cx="2044598" cy="777240"/>
          </a:xfrm>
          <a:prstGeom prst="roundRect">
            <a:avLst>
              <a:gd name="adj" fmla="val 8235"/>
            </a:avLst>
          </a:prstGeom>
          <a:solidFill>
            <a:srgbClr val="CADCF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5058461" y="2834640"/>
            <a:ext cx="2044598" cy="7772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marL="0" indent="0" algn="ctr">
              <a:buNone/>
            </a:pPr>
            <a:r>
              <a:rPr lang="en-US" sz="135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Other Ecosystems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7048195" y="2834640"/>
            <a:ext cx="274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7267651" y="2834640"/>
            <a:ext cx="2044598" cy="777240"/>
          </a:xfrm>
          <a:prstGeom prst="roundRect">
            <a:avLst>
              <a:gd name="adj" fmla="val 8235"/>
            </a:avLst>
          </a:prstGeom>
          <a:solidFill>
            <a:srgbClr val="CADCF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7267651" y="2834640"/>
            <a:ext cx="2044598" cy="7772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marL="0" indent="0" algn="ctr">
              <a:buNone/>
            </a:pPr>
            <a:r>
              <a:rPr lang="en-US" sz="135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in the Loop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9257386" y="2834640"/>
            <a:ext cx="274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9476842" y="2834640"/>
            <a:ext cx="2044598" cy="777240"/>
          </a:xfrm>
          <a:prstGeom prst="roundRect">
            <a:avLst>
              <a:gd name="adj" fmla="val 8235"/>
            </a:avLst>
          </a:prstGeom>
          <a:solidFill>
            <a:srgbClr val="CADCF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9476842" y="2834640"/>
            <a:ext cx="2044598" cy="7772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marL="0" indent="0" algn="ctr">
              <a:buNone/>
            </a:pPr>
            <a:r>
              <a:rPr lang="en-US" sz="135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</a:t>
            </a:r>
            <a:endParaRPr lang="en-US" sz="1350" dirty="0"/>
          </a:p>
        </p:txBody>
      </p:sp>
      <p:sp>
        <p:nvSpPr>
          <p:cNvPr id="17" name="Text 15"/>
          <p:cNvSpPr/>
          <p:nvPr/>
        </p:nvSpPr>
        <p:spPr>
          <a:xfrm>
            <a:off x="640080" y="397764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headers provisional — the strip returns at every act transition with the current section highlighted.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core attestation stack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640080" y="1325880"/>
            <a:ext cx="5760720" cy="1005840"/>
          </a:xfrm>
          <a:prstGeom prst="roundRect">
            <a:avLst>
              <a:gd name="adj" fmla="val 6364"/>
            </a:avLst>
          </a:prstGeom>
          <a:solidFill>
            <a:srgbClr val="1E276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868680" y="1325880"/>
            <a:ext cx="5303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spcAft>
                <a:spcPts val="200"/>
              </a:spcAft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Copland</a:t>
            </a:r>
            <a:endParaRPr lang="en-US" sz="1700" dirty="0"/>
          </a:p>
          <a:p>
            <a:pPr marL="0" indent="0" algn="l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attestation protocols as formal terms with an evidence semantics: what was measured, in what order, signed by whom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3337560" y="2340864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5A6478"/>
                </a:solidFill>
              </a:rPr>
              <a:t>▼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" y="2606040"/>
            <a:ext cx="5760720" cy="1005840"/>
          </a:xfrm>
          <a:prstGeom prst="roundRect">
            <a:avLst>
              <a:gd name="adj" fmla="val 6364"/>
            </a:avLst>
          </a:prstGeom>
          <a:solidFill>
            <a:srgbClr val="3A4A8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868680" y="2606040"/>
            <a:ext cx="5303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spcAft>
                <a:spcPts val="200"/>
              </a:spcAft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CVM — Copland Virtual Machine</a:t>
            </a:r>
            <a:endParaRPr lang="en-US" sz="1700" dirty="0"/>
          </a:p>
          <a:p>
            <a:pPr marL="0" indent="0" algn="l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executes Copland phrases · dispatches ASPs according to manifest configurations · appraises results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3337560" y="3621024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5A6478"/>
                </a:solidFill>
              </a:rPr>
              <a:t>▼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40080" y="3886200"/>
            <a:ext cx="5760720" cy="868680"/>
          </a:xfrm>
          <a:prstGeom prst="roundRect">
            <a:avLst>
              <a:gd name="adj" fmla="val 7368"/>
            </a:avLst>
          </a:prstGeom>
          <a:solidFill>
            <a:srgbClr val="56659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868680" y="3886200"/>
            <a:ext cx="5303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spcAft>
                <a:spcPts val="200"/>
              </a:spcAft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asp-libs</a:t>
            </a:r>
            <a:endParaRPr lang="en-US" sz="1700" dirty="0"/>
          </a:p>
          <a:p>
            <a:pPr marL="0" indent="0" algn="l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measurement &amp; appraisal primitives: hash, readfile, signature, golden comparison, …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3337560" y="4764024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5A6478"/>
                </a:solidFill>
              </a:rPr>
              <a:t>▼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40080" y="5029200"/>
            <a:ext cx="5760720" cy="868680"/>
          </a:xfrm>
          <a:prstGeom prst="roundRect">
            <a:avLst>
              <a:gd name="adj" fmla="val 7368"/>
            </a:avLst>
          </a:prstGeom>
          <a:solidFill>
            <a:srgbClr val="CADCF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868680" y="5029200"/>
            <a:ext cx="5303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signed evidence bundles</a:t>
            </a:r>
            <a:r>
              <a:rPr lang="en-US" sz="15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appraised against </a:t>
            </a: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golden baselines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6766560" y="141732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real protocol from the demo — the isolette model class: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6766560" y="1828800"/>
            <a:ext cx="4754880" cy="2286000"/>
          </a:xfrm>
          <a:prstGeom prst="roundRect">
            <a:avLst>
              <a:gd name="adj" fmla="val 2000"/>
            </a:avLst>
          </a:prstGeom>
          <a:solidFill>
            <a:srgbClr val="F2F4F8"/>
          </a:solidFill>
          <a:ln w="12700">
            <a:solidFill>
              <a:srgbClr val="CADCF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6995160" y="1828800"/>
            <a:ext cx="429768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21212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 readfile Regulate.sysml</a:t>
            </a:r>
            <a:endParaRPr lang="en-US" sz="1300" dirty="0"/>
          </a:p>
          <a:p>
            <a:pPr marL="0" indent="0" algn="l">
              <a:buNone/>
            </a:pPr>
            <a:r>
              <a:rPr lang="en-US" sz="1300" dirty="0">
                <a:solidFill>
                  <a:srgbClr val="21212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+&lt;+ readfile Monitor.sysml</a:t>
            </a:r>
            <a:endParaRPr lang="en-US" sz="1300" dirty="0"/>
          </a:p>
          <a:p>
            <a:pPr marL="0" indent="0" algn="l">
              <a:buNone/>
            </a:pPr>
            <a:r>
              <a:rPr lang="en-US" sz="1300" dirty="0">
                <a:solidFill>
                  <a:srgbClr val="21212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+&lt;+ readfile Operator_Interface.sysml</a:t>
            </a:r>
            <a:endParaRPr lang="en-US" sz="1300" dirty="0"/>
          </a:p>
          <a:p>
            <a:pPr marL="0" indent="0" algn="l">
              <a:buNone/>
            </a:pPr>
            <a:r>
              <a:rPr lang="en-US" sz="1300" dirty="0">
                <a:solidFill>
                  <a:srgbClr val="21212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+&lt;+ readfile oip_oit_app.rs</a:t>
            </a:r>
            <a:endParaRPr lang="en-US" sz="1300" dirty="0"/>
          </a:p>
          <a:p>
            <a:pPr marL="0" indent="0" algn="l">
              <a:buNone/>
            </a:pPr>
            <a:r>
              <a:rPr lang="en-US" sz="1300" dirty="0">
                <a:solidFill>
                  <a:srgbClr val="21212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+&lt;+ readfile GUMBO_Library )</a:t>
            </a:r>
            <a:endParaRPr lang="en-US" sz="1300" dirty="0"/>
          </a:p>
          <a:p>
            <a:pPr marL="0" indent="0" algn="l">
              <a:buNone/>
            </a:pPr>
            <a:r>
              <a:rPr lang="en-US" sz="1300" dirty="0">
                <a:solidFill>
                  <a:srgbClr val="21212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-&gt; SIG -&gt; APPR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6766560" y="4206240"/>
            <a:ext cx="475488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i="1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 the five blessed model files → </a:t>
            </a:r>
            <a:endParaRPr lang="en-US" sz="2000" dirty="0"/>
          </a:p>
          <a:p>
            <a:pPr marL="0" indent="0">
              <a:buNone/>
            </a:pPr>
            <a:r>
              <a:rPr lang="en-US" sz="2000" i="1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	sign the evidence (SIG) → </a:t>
            </a:r>
            <a:endParaRPr lang="en-US" sz="2000" dirty="0"/>
          </a:p>
          <a:p>
            <a:pPr marL="0" indent="0">
              <a:buNone/>
            </a:pPr>
            <a:r>
              <a:rPr lang="en-US" sz="2000" i="1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	appraise it (APPR)</a:t>
            </a:r>
            <a:endParaRPr lang="en-US" sz="2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92608"/>
            <a:ext cx="10972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pybb: a blackboard architecture for attestation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3383280" y="1024128"/>
            <a:ext cx="246888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19050">
            <a:solidFill>
              <a:srgbClr val="1E2761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3383280" y="1024128"/>
            <a:ext cx="2468880" cy="56692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Administrator blessing</a:t>
            </a:r>
            <a:endParaRPr lang="en-US" sz="1150" dirty="0"/>
          </a:p>
          <a:p>
            <a:pPr marL="0" indent="0" algn="ctr">
              <a:buNone/>
            </a:pPr>
            <a:r>
              <a:rPr lang="en-US" sz="1050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(signs golden spec)</a:t>
            </a:r>
            <a:endParaRPr lang="en-US" sz="1150" dirty="0"/>
          </a:p>
        </p:txBody>
      </p:sp>
      <p:sp>
        <p:nvSpPr>
          <p:cNvPr id="5" name="Shape 3"/>
          <p:cNvSpPr/>
          <p:nvPr/>
        </p:nvSpPr>
        <p:spPr>
          <a:xfrm>
            <a:off x="3931920" y="1591056"/>
            <a:ext cx="914" cy="310896"/>
          </a:xfrm>
          <a:prstGeom prst="line">
            <a:avLst/>
          </a:prstGeom>
          <a:noFill/>
          <a:ln w="19050">
            <a:solidFill>
              <a:srgbClr val="1E2761"/>
            </a:solidFill>
            <a:prstDash val="solid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4041648" y="1609344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bless ⇒ provision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640080" y="2743200"/>
            <a:ext cx="1554480" cy="914400"/>
          </a:xfrm>
          <a:prstGeom prst="roundRect">
            <a:avLst>
              <a:gd name="adj" fmla="val 6000"/>
            </a:avLst>
          </a:prstGeom>
          <a:solidFill>
            <a:srgbClr val="3A4A8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640080" y="2743200"/>
            <a:ext cx="1554480" cy="9144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measurement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2194560" y="3200400"/>
            <a:ext cx="548640" cy="914"/>
          </a:xfrm>
          <a:prstGeom prst="line">
            <a:avLst/>
          </a:prstGeom>
          <a:noFill/>
          <a:ln w="25400">
            <a:solidFill>
              <a:srgbClr val="212121"/>
            </a:solidFill>
            <a:prstDash val="solid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2743200" y="1627632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Blackboard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2743200" y="1920240"/>
            <a:ext cx="2377440" cy="731520"/>
          </a:xfrm>
          <a:prstGeom prst="roundRect">
            <a:avLst>
              <a:gd name="adj" fmla="val 7500"/>
            </a:avLst>
          </a:prstGeom>
          <a:solidFill>
            <a:srgbClr val="CADCF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2743200" y="1920240"/>
            <a:ext cx="2377440" cy="7315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provision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743200" y="2743200"/>
            <a:ext cx="2377440" cy="914400"/>
          </a:xfrm>
          <a:prstGeom prst="roundRect">
            <a:avLst>
              <a:gd name="adj" fmla="val 6000"/>
            </a:avLst>
          </a:prstGeom>
          <a:solidFill>
            <a:srgbClr val="1E276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2743200" y="2743200"/>
            <a:ext cx="2377440" cy="9144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certify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2743200" y="3749040"/>
            <a:ext cx="2377440" cy="731520"/>
          </a:xfrm>
          <a:prstGeom prst="roundRect">
            <a:avLst>
              <a:gd name="adj" fmla="val 7500"/>
            </a:avLst>
          </a:prstGeom>
          <a:solidFill>
            <a:srgbClr val="CADCF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2743200" y="3749040"/>
            <a:ext cx="2377440" cy="7315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A333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escalate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5120640" y="3200400"/>
            <a:ext cx="548640" cy="914"/>
          </a:xfrm>
          <a:prstGeom prst="line">
            <a:avLst/>
          </a:prstGeom>
          <a:noFill/>
          <a:ln w="25400">
            <a:solidFill>
              <a:srgbClr val="212121"/>
            </a:solidFill>
            <a:prstDash val="solid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18" name="Shape 16"/>
          <p:cNvSpPr/>
          <p:nvPr/>
        </p:nvSpPr>
        <p:spPr>
          <a:xfrm flipH="1">
            <a:off x="2487168" y="2286000"/>
            <a:ext cx="256032" cy="914"/>
          </a:xfrm>
          <a:prstGeom prst="line">
            <a:avLst/>
          </a:prstGeom>
          <a:noFill/>
          <a:ln w="25400">
            <a:solidFill>
              <a:srgbClr val="A3332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Shape 17"/>
          <p:cNvSpPr/>
          <p:nvPr/>
        </p:nvSpPr>
        <p:spPr>
          <a:xfrm>
            <a:off x="2487168" y="2286000"/>
            <a:ext cx="914" cy="1828800"/>
          </a:xfrm>
          <a:prstGeom prst="line">
            <a:avLst/>
          </a:prstGeom>
          <a:noFill/>
          <a:ln w="25400">
            <a:solidFill>
              <a:srgbClr val="A3332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Shape 18"/>
          <p:cNvSpPr/>
          <p:nvPr/>
        </p:nvSpPr>
        <p:spPr>
          <a:xfrm>
            <a:off x="2487168" y="4114800"/>
            <a:ext cx="256032" cy="914"/>
          </a:xfrm>
          <a:prstGeom prst="line">
            <a:avLst/>
          </a:prstGeom>
          <a:noFill/>
          <a:ln w="25400">
            <a:solidFill>
              <a:srgbClr val="A33327"/>
            </a:solidFill>
            <a:prstDash val="solid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228600" y="3977640"/>
            <a:ext cx="1097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i="1" dirty="0">
                <a:solidFill>
                  <a:srgbClr val="A333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repair chain:</a:t>
            </a:r>
            <a:endParaRPr lang="en-US" sz="1000" dirty="0"/>
          </a:p>
          <a:p>
            <a:pPr marL="0" indent="0" algn="r">
              <a:buNone/>
            </a:pPr>
            <a:r>
              <a:rPr lang="en-US" sz="1000" i="1" dirty="0">
                <a:solidFill>
                  <a:srgbClr val="A333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fail ⇒ escalate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 flipH="1">
            <a:off x="1417320" y="2148840"/>
            <a:ext cx="1325880" cy="914"/>
          </a:xfrm>
          <a:prstGeom prst="line">
            <a:avLst/>
          </a:prstGeom>
          <a:noFill/>
          <a:ln w="25400">
            <a:solidFill>
              <a:srgbClr val="2C7A3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Shape 21"/>
          <p:cNvSpPr/>
          <p:nvPr/>
        </p:nvSpPr>
        <p:spPr>
          <a:xfrm>
            <a:off x="1417320" y="2148840"/>
            <a:ext cx="914" cy="566928"/>
          </a:xfrm>
          <a:prstGeom prst="line">
            <a:avLst/>
          </a:prstGeom>
          <a:noFill/>
          <a:ln w="25400">
            <a:solidFill>
              <a:srgbClr val="2C7A3F"/>
            </a:solidFill>
            <a:prstDash val="solid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24" name="Text 22"/>
          <p:cNvSpPr/>
          <p:nvPr/>
        </p:nvSpPr>
        <p:spPr>
          <a:xfrm>
            <a:off x="548640" y="182880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i="1" dirty="0">
                <a:solidFill>
                  <a:srgbClr val="2C7A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provisioned ⇒ re-measure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5669280" y="2743200"/>
            <a:ext cx="2011680" cy="914400"/>
          </a:xfrm>
          <a:prstGeom prst="roundRect">
            <a:avLst>
              <a:gd name="adj" fmla="val 6000"/>
            </a:avLst>
          </a:prstGeom>
          <a:solidFill>
            <a:srgbClr val="3A4A8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6" name="Text 24"/>
          <p:cNvSpPr/>
          <p:nvPr/>
        </p:nvSpPr>
        <p:spPr>
          <a:xfrm>
            <a:off x="5669280" y="2743200"/>
            <a:ext cx="2011680" cy="9144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Controller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(evaluate = episode)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7680960" y="3200400"/>
            <a:ext cx="548640" cy="914"/>
          </a:xfrm>
          <a:prstGeom prst="line">
            <a:avLst/>
          </a:prstGeom>
          <a:noFill/>
          <a:ln w="25400">
            <a:solidFill>
              <a:srgbClr val="212121"/>
            </a:solidFill>
            <a:prstDash val="solid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28" name="Text 26"/>
          <p:cNvSpPr/>
          <p:nvPr/>
        </p:nvSpPr>
        <p:spPr>
          <a:xfrm>
            <a:off x="7498080" y="3246120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dispatch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8229600" y="2743200"/>
            <a:ext cx="1005840" cy="914400"/>
          </a:xfrm>
          <a:prstGeom prst="roundRect">
            <a:avLst>
              <a:gd name="adj" fmla="val 6000"/>
            </a:avLst>
          </a:prstGeom>
          <a:solidFill>
            <a:srgbClr val="1E276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0" name="Text 28"/>
          <p:cNvSpPr/>
          <p:nvPr/>
        </p:nvSpPr>
        <p:spPr>
          <a:xfrm>
            <a:off x="8229600" y="2743200"/>
            <a:ext cx="1005840" cy="9144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KS 1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9235440" y="3200400"/>
            <a:ext cx="365760" cy="914"/>
          </a:xfrm>
          <a:prstGeom prst="line">
            <a:avLst/>
          </a:prstGeom>
          <a:noFill/>
          <a:ln w="25400">
            <a:solidFill>
              <a:srgbClr val="A33327"/>
            </a:solidFill>
            <a:prstDash val="solid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32" name="Shape 30"/>
          <p:cNvSpPr/>
          <p:nvPr/>
        </p:nvSpPr>
        <p:spPr>
          <a:xfrm>
            <a:off x="9601200" y="2743200"/>
            <a:ext cx="1005840" cy="914400"/>
          </a:xfrm>
          <a:prstGeom prst="roundRect">
            <a:avLst>
              <a:gd name="adj" fmla="val 6000"/>
            </a:avLst>
          </a:prstGeom>
          <a:solidFill>
            <a:srgbClr val="1E276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3" name="Text 31"/>
          <p:cNvSpPr/>
          <p:nvPr/>
        </p:nvSpPr>
        <p:spPr>
          <a:xfrm>
            <a:off x="9601200" y="2743200"/>
            <a:ext cx="1005840" cy="9144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KS 2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10607040" y="3200400"/>
            <a:ext cx="365760" cy="914"/>
          </a:xfrm>
          <a:prstGeom prst="line">
            <a:avLst/>
          </a:prstGeom>
          <a:noFill/>
          <a:ln w="25400">
            <a:solidFill>
              <a:srgbClr val="A33327"/>
            </a:solidFill>
            <a:prstDash val="solid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35" name="Shape 33"/>
          <p:cNvSpPr/>
          <p:nvPr/>
        </p:nvSpPr>
        <p:spPr>
          <a:xfrm>
            <a:off x="10972800" y="2743200"/>
            <a:ext cx="1005840" cy="914400"/>
          </a:xfrm>
          <a:prstGeom prst="roundRect">
            <a:avLst>
              <a:gd name="adj" fmla="val 6000"/>
            </a:avLst>
          </a:prstGeom>
          <a:solidFill>
            <a:srgbClr val="1E276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6" name="Text 34"/>
          <p:cNvSpPr/>
          <p:nvPr/>
        </p:nvSpPr>
        <p:spPr>
          <a:xfrm>
            <a:off x="10972800" y="2743200"/>
            <a:ext cx="1005840" cy="9144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KS n</a:t>
            </a:r>
            <a:endParaRPr lang="en-US" sz="1200" dirty="0"/>
          </a:p>
        </p:txBody>
      </p:sp>
      <p:sp>
        <p:nvSpPr>
          <p:cNvPr id="37" name="Text 35"/>
          <p:cNvSpPr/>
          <p:nvPr/>
        </p:nvSpPr>
        <p:spPr>
          <a:xfrm>
            <a:off x="8046720" y="3767328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i="1" dirty="0">
                <a:solidFill>
                  <a:srgbClr val="A333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 → = on-fail handoff (attempts spent, changes restored)</a:t>
            </a:r>
            <a:endParaRPr lang="en-US" sz="1050" dirty="0"/>
          </a:p>
        </p:txBody>
      </p:sp>
      <p:sp>
        <p:nvSpPr>
          <p:cNvPr id="38" name="Shape 36"/>
          <p:cNvSpPr/>
          <p:nvPr/>
        </p:nvSpPr>
        <p:spPr>
          <a:xfrm flipV="1">
            <a:off x="8732520" y="2103120"/>
            <a:ext cx="914" cy="640080"/>
          </a:xfrm>
          <a:prstGeom prst="line">
            <a:avLst/>
          </a:prstGeom>
          <a:noFill/>
          <a:ln w="25400">
            <a:solidFill>
              <a:srgbClr val="2C7A3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9" name="Shape 37"/>
          <p:cNvSpPr/>
          <p:nvPr/>
        </p:nvSpPr>
        <p:spPr>
          <a:xfrm flipV="1">
            <a:off x="10104120" y="2103120"/>
            <a:ext cx="914" cy="640080"/>
          </a:xfrm>
          <a:prstGeom prst="line">
            <a:avLst/>
          </a:prstGeom>
          <a:noFill/>
          <a:ln w="25400">
            <a:solidFill>
              <a:srgbClr val="2C7A3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0" name="Shape 38"/>
          <p:cNvSpPr/>
          <p:nvPr/>
        </p:nvSpPr>
        <p:spPr>
          <a:xfrm flipV="1">
            <a:off x="11475720" y="2103120"/>
            <a:ext cx="914" cy="640080"/>
          </a:xfrm>
          <a:prstGeom prst="line">
            <a:avLst/>
          </a:prstGeom>
          <a:noFill/>
          <a:ln w="25400">
            <a:solidFill>
              <a:srgbClr val="2C7A3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1" name="Shape 39"/>
          <p:cNvSpPr/>
          <p:nvPr/>
        </p:nvSpPr>
        <p:spPr>
          <a:xfrm>
            <a:off x="6675120" y="2103120"/>
            <a:ext cx="4800600" cy="914"/>
          </a:xfrm>
          <a:prstGeom prst="line">
            <a:avLst/>
          </a:prstGeom>
          <a:noFill/>
          <a:ln w="25400">
            <a:solidFill>
              <a:srgbClr val="2C7A3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2" name="Shape 40"/>
          <p:cNvSpPr/>
          <p:nvPr/>
        </p:nvSpPr>
        <p:spPr>
          <a:xfrm>
            <a:off x="6675120" y="2103120"/>
            <a:ext cx="914" cy="594360"/>
          </a:xfrm>
          <a:prstGeom prst="line">
            <a:avLst/>
          </a:prstGeom>
          <a:noFill/>
          <a:ln w="25400">
            <a:solidFill>
              <a:srgbClr val="2C7A3F"/>
            </a:solidFill>
            <a:prstDash val="solid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43" name="Text 41"/>
          <p:cNvSpPr/>
          <p:nvPr/>
        </p:nvSpPr>
        <p:spPr>
          <a:xfrm>
            <a:off x="5852160" y="1755648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2C7A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on-pass: re-verify · restart-episode ⇒ fresh measurement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11475720" y="3657600"/>
            <a:ext cx="914" cy="1051560"/>
          </a:xfrm>
          <a:prstGeom prst="line">
            <a:avLst/>
          </a:prstGeom>
          <a:noFill/>
          <a:ln w="25400">
            <a:solidFill>
              <a:srgbClr val="A3332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5" name="Shape 43"/>
          <p:cNvSpPr/>
          <p:nvPr/>
        </p:nvSpPr>
        <p:spPr>
          <a:xfrm>
            <a:off x="3931920" y="4709160"/>
            <a:ext cx="7543800" cy="914"/>
          </a:xfrm>
          <a:prstGeom prst="line">
            <a:avLst/>
          </a:prstGeom>
          <a:noFill/>
          <a:ln w="25400">
            <a:solidFill>
              <a:srgbClr val="A3332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6" name="Shape 44"/>
          <p:cNvSpPr/>
          <p:nvPr/>
        </p:nvSpPr>
        <p:spPr>
          <a:xfrm flipV="1">
            <a:off x="3931920" y="4498848"/>
            <a:ext cx="914" cy="210312"/>
          </a:xfrm>
          <a:prstGeom prst="line">
            <a:avLst/>
          </a:prstGeom>
          <a:noFill/>
          <a:ln w="25400">
            <a:solidFill>
              <a:srgbClr val="A33327"/>
            </a:solidFill>
            <a:prstDash val="solid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47" name="Text 45"/>
          <p:cNvSpPr/>
          <p:nvPr/>
        </p:nvSpPr>
        <p:spPr>
          <a:xfrm>
            <a:off x="6583680" y="4773168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A333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rungs exhausted → escalate</a:t>
            </a:r>
            <a:endParaRPr lang="en-US" sz="1100" dirty="0"/>
          </a:p>
        </p:txBody>
      </p:sp>
      <p:sp>
        <p:nvSpPr>
          <p:cNvPr id="48" name="Shape 46"/>
          <p:cNvSpPr/>
          <p:nvPr/>
        </p:nvSpPr>
        <p:spPr>
          <a:xfrm>
            <a:off x="6400800" y="3657600"/>
            <a:ext cx="914" cy="1828800"/>
          </a:xfrm>
          <a:prstGeom prst="line">
            <a:avLst/>
          </a:prstGeom>
          <a:noFill/>
          <a:ln w="19050">
            <a:solidFill>
              <a:srgbClr val="21212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9" name="Shape 47"/>
          <p:cNvSpPr/>
          <p:nvPr/>
        </p:nvSpPr>
        <p:spPr>
          <a:xfrm>
            <a:off x="1417320" y="5486400"/>
            <a:ext cx="4983480" cy="914"/>
          </a:xfrm>
          <a:prstGeom prst="line">
            <a:avLst/>
          </a:prstGeom>
          <a:noFill/>
          <a:ln w="19050">
            <a:solidFill>
              <a:srgbClr val="21212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0" name="Shape 48"/>
          <p:cNvSpPr/>
          <p:nvPr/>
        </p:nvSpPr>
        <p:spPr>
          <a:xfrm flipV="1">
            <a:off x="1417320" y="3675888"/>
            <a:ext cx="914" cy="1810512"/>
          </a:xfrm>
          <a:prstGeom prst="line">
            <a:avLst/>
          </a:prstGeom>
          <a:noFill/>
          <a:ln w="19050">
            <a:solidFill>
              <a:srgbClr val="212121"/>
            </a:solidFill>
            <a:prstDash val="solid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51" name="Text 49"/>
          <p:cNvSpPr/>
          <p:nvPr/>
        </p:nvSpPr>
        <p:spPr>
          <a:xfrm>
            <a:off x="2377440" y="5541264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evaluate ⇒ run measurement</a:t>
            </a:r>
            <a:endParaRPr lang="en-US" sz="1100" dirty="0"/>
          </a:p>
        </p:txBody>
      </p:sp>
      <p:sp>
        <p:nvSpPr>
          <p:cNvPr id="52" name="Shape 50"/>
          <p:cNvSpPr/>
          <p:nvPr/>
        </p:nvSpPr>
        <p:spPr>
          <a:xfrm>
            <a:off x="640080" y="5989320"/>
            <a:ext cx="8138160" cy="731520"/>
          </a:xfrm>
          <a:prstGeom prst="roundRect">
            <a:avLst>
              <a:gd name="adj" fmla="val 8750"/>
            </a:avLst>
          </a:prstGeom>
          <a:solidFill>
            <a:srgbClr val="1E276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3" name="Text 51"/>
          <p:cNvSpPr/>
          <p:nvPr/>
        </p:nvSpPr>
        <p:spPr>
          <a:xfrm>
            <a:off x="868680" y="5989320"/>
            <a:ext cx="7680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repair ladder: </a:t>
            </a: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rung's exhaustion is a </a:t>
            </a:r>
            <a:r>
              <a:rPr lang="en-US" sz="1300" b="1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 diagnosis </a:t>
            </a: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failure— every repair is </a:t>
            </a:r>
          </a:p>
          <a:p>
            <a:pPr marL="0" indent="0" algn="ctr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judged only by </a:t>
            </a:r>
            <a:r>
              <a:rPr lang="en-US" sz="1300" b="1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fresh re-measurement</a:t>
            </a: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300" dirty="0"/>
          </a:p>
        </p:txBody>
      </p:sp>
      <p:sp>
        <p:nvSpPr>
          <p:cNvPr id="54" name="Shape 52"/>
          <p:cNvSpPr/>
          <p:nvPr/>
        </p:nvSpPr>
        <p:spPr>
          <a:xfrm>
            <a:off x="8961120" y="5989320"/>
            <a:ext cx="2560320" cy="731520"/>
          </a:xfrm>
          <a:prstGeom prst="roundRect">
            <a:avLst>
              <a:gd name="adj" fmla="val 8750"/>
            </a:avLst>
          </a:prstGeom>
          <a:solidFill>
            <a:srgbClr val="F2F4F8"/>
          </a:solidFill>
          <a:ln w="12700">
            <a:solidFill>
              <a:srgbClr val="CADCF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5" name="Text 53"/>
          <p:cNvSpPr/>
          <p:nvPr/>
        </p:nvSpPr>
        <p:spPr>
          <a:xfrm>
            <a:off x="9098280" y="5989320"/>
            <a:ext cx="2331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21212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attested   ✗ refuted</a:t>
            </a:r>
            <a:endParaRPr lang="en-US" sz="1100" dirty="0"/>
          </a:p>
          <a:p>
            <a:pPr marL="0" indent="0" algn="l">
              <a:buNone/>
            </a:pPr>
            <a:r>
              <a:rPr lang="en-US" sz="1100" dirty="0">
                <a:solidFill>
                  <a:srgbClr val="21212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?  poisoned (fail-closed)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pybb: key components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640080" y="1463040"/>
            <a:ext cx="10972800" cy="4846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 algn="l">
              <a:buSzPct val="100000"/>
              <a:buChar char="•"/>
            </a:pPr>
            <a:r>
              <a:rPr lang="en-US" sz="17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Blackboard</a:t>
            </a:r>
            <a:r>
              <a:rPr lang="en-US" sz="17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the shared store: every measurement lands as an entry with its condition and standing; three segments (provision · certify · escalate) plus a full history of every change</a:t>
            </a:r>
            <a:endParaRPr lang="en-US" sz="1700" dirty="0"/>
          </a:p>
          <a:p>
            <a:pPr marL="342900" indent="-342900" algn="l">
              <a:buSzPct val="100000"/>
              <a:buChar char="•"/>
            </a:pPr>
            <a:r>
              <a:rPr lang="en-US" sz="17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Partition</a:t>
            </a:r>
            <a:r>
              <a:rPr lang="en-US" sz="17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the division of blackboard entries among repairers: each knowledge source watches its own collection of keys, and an entry sits in the partition of whichever rung currently owns it</a:t>
            </a:r>
            <a:endParaRPr lang="en-US" sz="1700" dirty="0"/>
          </a:p>
          <a:p>
            <a:pPr marL="342900" indent="-342900" algn="l">
              <a:buSzPct val="100000"/>
              <a:buChar char="•"/>
            </a:pPr>
            <a:r>
              <a:rPr lang="en-US" sz="17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Controller</a:t>
            </a:r>
            <a:r>
              <a:rPr lang="en-US" sz="17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the cycle: evaluates every entry (provision first), dispatches keys onto outcome-routed chains, advances or hands off, escalates; halts only when everything is in good standing</a:t>
            </a:r>
            <a:endParaRPr lang="en-US" sz="1700" dirty="0"/>
          </a:p>
          <a:p>
            <a:pPr marL="342900" indent="-342900" algn="l">
              <a:buSzPct val="100000"/>
              <a:buChar char="•"/>
            </a:pPr>
            <a:r>
              <a:rPr lang="en-US" sz="17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Knowledge source (KS)</a:t>
            </a:r>
            <a:r>
              <a:rPr lang="en-US" sz="17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a repair rung: operates only on entries in its partition (optionally a single component), bounded by max_attempts; its work is always re-judged, never trusted</a:t>
            </a:r>
            <a:endParaRPr lang="en-US" sz="1700" dirty="0"/>
          </a:p>
          <a:p>
            <a:pPr marL="342900" indent="-342900" algn="l">
              <a:buSzPct val="100000"/>
              <a:buChar char="•"/>
            </a:pPr>
            <a:r>
              <a:rPr lang="en-US" sz="17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Route</a:t>
            </a:r>
            <a:r>
              <a:rPr lang="en-US" sz="17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the per-key chains: on_fail = the repair ladder, on_pass = a confirmation chain before an entry may rest in good standing</a:t>
            </a:r>
            <a:endParaRPr lang="en-US" sz="17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1181</Words>
  <Application>Microsoft Macintosh PowerPoint</Application>
  <PresentationFormat>Widescreen</PresentationFormat>
  <Paragraphs>93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1" baseType="lpstr">
      <vt:lpstr>Arial</vt:lpstr>
      <vt:lpstr>Calibri</vt:lpstr>
      <vt:lpstr>Cambria</vt:lpstr>
      <vt:lpstr>Courier New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Petz, Adam Michael</cp:lastModifiedBy>
  <cp:revision>2</cp:revision>
  <dcterms:created xsi:type="dcterms:W3CDTF">2026-08-25T17:19:46Z</dcterms:created>
  <dcterms:modified xsi:type="dcterms:W3CDTF">2026-08-25T17:21:57Z</dcterms:modified>
</cp:coreProperties>
</file>
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559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card. Subtitle deliberately names the four core artifact classes - the deck's first echo of the artifact-class table (slide 6). Footer: DARPA PROVERS sponsor acknowledgment with contract number (INSPECTA is the team's project under PROVERS).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~15 seconds on first appearance; the same slide reprises before each later section with that section highlighted (deck positions 8, 17, 19).
Design decision: one generator function holds the strip so a section rename is a single edit. Header titles are provisional.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Promise the audience every demo scene echoes the banner.
The administrator's bless survives 'every': authority enters the system only AS signed evidence (the blessed baseline), never by assertion - scene 6's laundering beat proves exactly that.
Subline payoffs: developer claims -&gt; scenes 5/7; untrusted tools -&gt; scene 7; LLM outputs -&gt; capstone slides A/B; cached verdicts -&gt; scene 11.
Visual TODO: three-stage widening-scope progression (boot-time -&gt; layered runtime -&gt; lifecycle loop) to replace/join the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phrase of 'what this layer contributes' each; asp-libs has its own layer box; keep it to one spoken clause (its inventory returns as a star of capstone slide B).
On the snippet: 'you don't need to read this - you need to know it's a formal object with an evidence semantics.' Measure the five blessed model files, sign the evidence, appraise it.
Snippet source: tests/fixtures/isolette_sysmlv2_rust_props/term.json, rendered in concrete syntax (branches flattened, target IDs shortened to file names - cosmetic).
The verus-tier measure-then-use phrase is deliberately held back for scene 7's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vocabulary minimal: entry, episode, knowledge source, ladder, escalate. Everything else is detail the scenes show live.
Semantics verified against the pybb README control flow: green = on-pass (results return to the Controller; standing re-established only by its re-evaluation, with restart-episode forcing genuinely fresh measurement); red = on-fail (handoff on exhaustion with changes restored; exhausted routes escalate; provision requests have no repair chains and escalate immediately - the readiness-gate refusal).
The Administrator blessing box is dashed/white: a human, out-of-band authority act, not a component in the measured loop - only exit from a refused baseline (scene 6).
Speaker-note-only details (cut from the slide): on_pass/on_fail dispatch mechanics, success-driven handoff for component-wise entries, max_attempts per rung.
The legend earns its space: every scene's checklist frames render through these glyphs.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audience's glossary for the terminal scenes - point back at the slide-5 diagram while reading it.
Entry keys in the real demos are the provisioned protocols: ready (the readiness gate), isolette_sysmlv2_rust_props (blessed model), _l1a (file hashes), _l2 (contract slices), _verus, _cheat, _sysproof, _gensrc, _report. Every row of the checklist the audience is about to watch is one of these keys.
Predicate and restart-episode are deliberately OFF this slide (parked; placement TBD - possibly an 'evaluation primitives' strip). If asked: a predicate is the judge (one evaluation = one attestation episode), restart-episode is the freshness primitive (forget memoized verdicts, reset, re-evaluate).
Also deliberately excluded (README-level detail): partition mechanics, component-wise entries and success handoff, dispatch latching, max_cycles.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two rows are the surprising ones - scenes 6-7 exist for them.
Spoken hook (never on-slide text): 'This table is deliberately incomplete - the demo will show why.' The cheat / sysproof / gensrc tiers are capstone slide C's punchline: attacks forced them into existence. Do not pre-introduce them here.
Same column shape (class -&gt; measured how -&gt; judged by -&gt; repair) as capstone slide B, so the audience recognizes it when it returns.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 into the demo: ~5 seconds, then straight into the isolette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section transition into the demo (strip: Demo segment highlighted).
The tiers callout is the bridge: these keys are the glossary's entry keys, and every checklist row in the scenes is one of them.
Spoken line on the why-beat: 'the table you just saw, instantiated.'
Held back on purpose (scene 9's reveal): cheat-tier depth stats - 86 blessed external_body sites, 10 scanned crates.
Numbers verified exact 2026-08-25 (l1a targets, l2 slices, verus term, pub-proof-fn count); provision-dependent - re-verify before recording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Beats: readiness gate green -&gt; one full episode -&gt; per-crate checklist all green. Dwell on the final checklist - it is the frame every later refusal is compared against.
Watch-for line doubles as the VO opener over the terminal cut. Full runbook: docs/video_recording_plan.md.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benign beat (per user deck edit, restored 2026-08-27): the Table A-12 upper-alarm ceiling widened 102 -&gt; 103 in the shared GUMBO library constant. Beats: appraisal fails, gumbo_library attributed, all else green (dwell: 'sanction, not semantics') -&gt; ruling diff -&gt; bless -&gt; spec-first green -&gt; promote (real codegen; speed-ramp) -&gt; re-proves ALL GREEN; offered diff = the regenerated shared-library constant. The breaking spec beat lives elsewhere (breaking-impl is Act V/scene 2, breaking-contract is Act IV/scene 14), so Act II stays the clean benign-model story.
Watch-for line doubles as the VO opener over the terminal cut. Full runbook: docs/video_recording_plan.md.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Beats: equivalent NORMAL-mode guard rewrite (x&gt;y -&gt; y&lt;x), outside every marker block -&gt; l1a hash moves -&gt; files entry passes via l2 refinement (slices intact) -&gt; the l1b contracts entry stays clean -&gt; confirmation chain RE-VERIFIES the rewrite green. The mirror of Act II's benign spec beat, one artifact class down: a developer-owned region has no blessed bytes to match, so its attested properties are contracts (intact) + provability (re-verified live).
Watch-for line doubles as the VO opener over the terminal cut. Full runbook: docs/video_recording_plan.md.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report emits NO slice for compute_cases realizations, so the weakened REQ_MHS_2 lands between l2 slices. Beats: launder (weaken REQ_MHS_2 ensures + invert impl) -&gt; cargo-verus SUCCEEDS (self-consistent) -&gt; the l1b MARKER tier (a new Copland protocol: readfile_marker_range over every contract-block byte) refuses -&gt; its repair rung splices the golden contract back -&gt; the restored TRUE contract refutes the still-inverted impl: end on the exposed Verus refusal (verus_targ Appraisal was not successful). Discovered while building this demo; the marker-coverage lint now enforces the invariant. Do NOT auto-repair to green - the exposure IS the beat; the impl repair is Act V's ladder. Slide-C candidate row.
Watch-for line doubles as the VO opener over the terminal cut. Full runbook: docs/video_recording_plan.md.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Beats: dummy-bad-impl diff (take the [v]iew - VSCode diff D1 on camera) -&gt; contracts-intact rung exhausts -&gt; impl rung restores crate-scoped -&gt; restart -&gt; re-attested clean.
Watch-for line doubles as the VO opener over the terminal cut. Full runbook: docs/video_recording_plan.md.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6 beats: three tampers, three attributed refusals (signature -&gt; anchor -&gt; derivability); optionally the flipped-evidence-byte diff on camera. Scene 7 beats: wrapper edit (take the [v]iew, diff D10) -&gt; readiness still passes -&gt; tool hash refutes, every proof cell poisons to ? - dwell, this is the act's money shot. --restore-tools recovery in VO only.
Watch-for line doubles as the VO opener over the terminal cut. Full runbook: docs/video_recording_plan.md.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detector escalation that closes the demo. BEAT 1 (scene 9, axioms): two-grid view - the verus grid all green (cargo-verus succeeds) beside the proof-escape grid refusing the exact crate and naming the construct (ADMIT: assume 0-&gt;1; SMUGGLE: broadcast 0-&gt;1, external_body 0-&gt;1). The CHEAT SCAN catches what the outcome cannot - a construct appeared. BEAT 2 (scene 12, FFI): the heat command inverted behind external_body (diff D18) -&gt; every proof passes AND the cheat scan is SILENT (no construct) -&gt; only the GENSRC byte anchor refuses, naming the file -&gt; diagnosis rung classifies -&gt; repair by regeneration (speed-ramp). Three detectors, three blind spots: outcome (blind to both), construct scan (catches beat 1), byte anchor (catches beat 2). Close naming scenes 10-11 (slide C carries the rest).
Watch-for line doubles as the VO opener over the terminal cut. Full runbook: docs/video_recording_plan.md.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~5 seconds, then the ecosystems card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 breadth slide (section 3 opener) - card grid, per user edits 2026-08-30. Four artifact pipelines: the isolette (SysML-&gt;HAMR-&gt;Rust/Verus, the demo, highlighted), AADL-&gt;HAMR-&gt;Slang/Logika (temp-control), standalone Rust/Verus (find-max-verus; AutoVerus + KU Dogtreat repair experiments), and the interactive theorem provers Lean &amp; Rocq (blessed statements, tactic/LLM repair). Title = the artifact pipeline; caption = example system(s). Repair-strategy breadth lands per-card where it defines the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~5 seconds, then the three capstone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slide 1 of 3 (theme: 'AI in the loop' as the big title, a descriptive caption beneath - B and C reuse the header).
One idea: AI helps everywhere EXCEPT the judges. The top three stages (model, implementation, proofs) are AI-assisted; the bottom two (verification/appraisal, evidence/trust state) are AI-free by design - the shaded band.
The Proofs row is where the repair-strategy breadth lands (deferred from the ecosystems slide): tactic portfolio, LLM (API + desktop sessions), AutoVerus, KU Dogtreat linear planner.
Motivation flip (speaker, sets up the close): as more lifecycle artifacts ARE AI-generated, lifecycle attestation is what makes them trustworthy - provenance and evidence, not provider assurances.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slide 2 of 3 (theme: 'AI in the loop' big title + caption). The one idea: AI built the entire attestation stack, and that stack is held to the same measured discipline it enforces.
Counts current 2026-08-30: 12 new + 7 upgraded asp-libs binaries (git-attested, separate repo); 42 provisioned Copland protocol dirs (the newest, the l1b marker tier, was built in this very session - a callback available if wanted); 7 red-team attack classes.
cvm-mcp aside (15 s): an AI-built MCP interface so AI agents can drive attestation - AI both built the loop and can drive it.
Git provenance deliberately de-emphasized per user; the point is the self-application (the reflexive footer), not the Co-Authored-By trailers.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slide 3 of 3 (title 'AI attacked the loop'). The same sessions red-teamed the stack they built; every attack was green across every EXISTING tier when found, and each forced a new measurement capability - defense-in-depth measured into existence.
7 attacks -&gt; 4 measurement capabilities: cheat scan (ADMIT, SMUGGLE), sysproof file hashes (SHRINK, SWAP), gensrc measurement (STALE, INVERT), and the l1b marker tier + coverage lint (LAUNDER, highlighted - found this session).
STALE vs INVERT are two different blind spots of 'verification succeeded': STALE = a stale cached verdict (verified over old bytes); INVERT = unverified code out of the proof's scope. Same detector (gensrc bytes), different evasion.
LAUNDER is the reflexive one: it exposed a COVERAGE gap in the measurement itself (the report emits no compute_cases slice), so it forced a detector PLUS a provisioning invariant. Root cause is upstream (HAMR report emission) - see draft_hamr_report_contract_coverage.md.
Speaker: the escalating lesson of 9-&gt;12 is that 'verification succeeded' and 'no cheats present' are both weaker claims than 'these are the blessed bytes.'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Collection point for every reference in the deck - keep this slide current as sections are added. Numbers follow first on-slide citation ([1] on the lifecycle slide; [2]-[6] on the core-stack slide; [7]-[13] on the isolette slide); groupings kept, so numbers read out of order here on purpose.
DOIs on record in docs/video_slide_drafts.md.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 Attestation with pybb</a:t>
            </a: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36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thon </a:t>
            </a:r>
            <a:r>
              <a:rPr lang="en-US" sz="36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</a:t>
            </a:r>
            <a:r>
              <a:rPr lang="en-US" sz="36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oard)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trust across models, contracts, code, and proofs in 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assurance, LLM-assisted development pipelines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47548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Petz</a:t>
            </a:r>
            <a:r>
              <a:rPr lang="en-US" sz="1600" baseline="30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Isaac Amundson</a:t>
            </a:r>
            <a:r>
              <a:rPr lang="en-US" sz="1600" baseline="30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Timothy Barclay</a:t>
            </a:r>
            <a:r>
              <a:rPr lang="en-US" sz="1600" baseline="30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David Hardin</a:t>
            </a:r>
            <a:r>
              <a:rPr lang="en-US" sz="1600" baseline="30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Jason Belt</a:t>
            </a:r>
            <a:r>
              <a:rPr lang="en-US" sz="1600" baseline="30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John Hatcliff</a:t>
            </a:r>
            <a:r>
              <a:rPr lang="en-US" sz="1600" baseline="30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Anakha Krishna</a:t>
            </a:r>
            <a:r>
              <a:rPr lang="en-US" sz="1600" baseline="30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Ina Harris</a:t>
            </a:r>
            <a:r>
              <a:rPr lang="en-US" sz="1600" baseline="30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Perry Alexander</a:t>
            </a:r>
            <a:r>
              <a:rPr lang="en-US" sz="1600" baseline="30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aseline="30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Kansas</a:t>
            </a:r>
            <a:r>
              <a:rPr lang="en-US" sz="1300" baseline="30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Collins Aerospace</a:t>
            </a:r>
            <a:r>
              <a:rPr lang="en-US" sz="1300" baseline="30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3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Kansas State University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94960" y="6035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the DARPA PROVERS effort (contract FA8750-24-9-1000)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2834640"/>
            <a:ext cx="2044598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204459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Preliminaries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629814" y="28346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49270" y="2834640"/>
            <a:ext cx="2044598" cy="777240"/>
          </a:xfrm>
          <a:prstGeom prst="roundRect">
            <a:avLst>
              <a:gd name="adj" fmla="val 823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49270" y="2834640"/>
            <a:ext cx="204459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Isolette (SysMLv2 → Rust)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39005" y="28346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58461" y="2834640"/>
            <a:ext cx="2044598" cy="777240"/>
          </a:xfrm>
          <a:prstGeom prst="roundRect">
            <a:avLst>
              <a:gd name="adj" fmla="val 823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58461" y="2834640"/>
            <a:ext cx="204459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Ecosystems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048195" y="28346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67651" y="2834640"/>
            <a:ext cx="2044598" cy="777240"/>
          </a:xfrm>
          <a:prstGeom prst="roundRect">
            <a:avLst>
              <a:gd name="adj" fmla="val 823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67651" y="2834640"/>
            <a:ext cx="204459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the Loop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257386" y="28346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476842" y="2834640"/>
            <a:ext cx="2044598" cy="777240"/>
          </a:xfrm>
          <a:prstGeom prst="roundRect">
            <a:avLst>
              <a:gd name="adj" fmla="val 823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76842" y="2834640"/>
            <a:ext cx="204459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Lifecycle Attestation?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972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remote attestation: Did system components boot into a predictable state? (boot-time, static runtime)</a:t>
            </a:r>
            <a:endParaRPr lang="en-US" dirty="0"/>
          </a:p>
          <a:p>
            <a:pPr marL="342900" indent="-342900" algn="l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Layered, runtime attestation</a:t>
            </a:r>
            <a:r>
              <a:rPr lang="en-US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boot-time trust via dynamic measurement of system components and their context/dependencies</a:t>
            </a:r>
            <a:r>
              <a:rPr lang="en-US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[1]</a:t>
            </a:r>
            <a:endParaRPr lang="en-US" dirty="0"/>
          </a:p>
          <a:p>
            <a:pPr marL="342900" indent="-342900" algn="l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attestation</a:t>
            </a:r>
            <a:r>
              <a:rPr lang="en-US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this notion to </a:t>
            </a:r>
            <a:r>
              <a:rPr lang="en-US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of the development lifecycle</a:t>
            </a:r>
            <a:r>
              <a:rPr lang="en-US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models, contracts, implementations, proofs, toolchains</a:t>
            </a:r>
            <a:endParaRPr lang="en-US" dirty="0"/>
          </a:p>
          <a:p>
            <a:pPr marL="685800" lvl="1" indent="-342900" algn="l"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…including the attestation infrastructure/evidence itself, and lifecycle events:</a:t>
            </a:r>
            <a:endParaRPr lang="en-US" dirty="0"/>
          </a:p>
          <a:p>
            <a:pPr marL="1028700" lvl="2" indent="-342900" algn="l">
              <a:spcAft>
                <a:spcPts val="200"/>
              </a:spcAft>
              <a:buSzPct val="100000"/>
              <a:buChar char="▪"/>
            </a:pPr>
            <a:r>
              <a:rPr lang="en-US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drift </a:t>
            </a:r>
            <a:endParaRPr lang="en-US" dirty="0"/>
          </a:p>
          <a:p>
            <a:pPr marL="1028700" lvl="2" indent="-342900" algn="l">
              <a:spcAft>
                <a:spcPts val="200"/>
              </a:spcAft>
              <a:buSzPct val="100000"/>
              <a:buChar char="▪"/>
            </a:pPr>
            <a:r>
              <a:rPr lang="en-US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 updates</a:t>
            </a:r>
            <a:endParaRPr lang="en-US" dirty="0"/>
          </a:p>
          <a:p>
            <a:pPr marL="1028700" lvl="2" indent="-342900" algn="l">
              <a:spcAft>
                <a:spcPts val="200"/>
              </a:spcAft>
              <a:buSzPct val="100000"/>
              <a:buChar char="▪"/>
            </a:pPr>
            <a:r>
              <a:rPr lang="en-US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synthesis and repair</a:t>
            </a:r>
          </a:p>
          <a:p>
            <a:pPr marL="1028700" lvl="2" indent="-342900" algn="l">
              <a:spcAft>
                <a:spcPts val="200"/>
              </a:spcAft>
              <a:buSzPct val="100000"/>
              <a:buChar char="▪"/>
            </a:pPr>
            <a:endParaRPr lang="en-US" dirty="0"/>
          </a:p>
          <a:p>
            <a:pPr marL="342900" indent="-342900" algn="l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r>
              <a:rPr lang="en-US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proliferation of AI-generated software artifacts</a:t>
            </a:r>
            <a:r>
              <a:rPr lang="en-US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amid the need for </a:t>
            </a:r>
            <a:r>
              <a:rPr lang="en-US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re-certification of systems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40080" y="52454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524544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trust decision is grounded in cryptographic attestation evidence.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NOT anchored in the following:  developer claims, untrusted tools, LLM outputs, cached verdicts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attestation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760720" cy="100584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Copland</a:t>
            </a: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[2]</a:t>
            </a:r>
            <a:endParaRPr lang="en-US" sz="17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protocols as formal terms with an evidence semantics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337560" y="23408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78"/>
                </a:solidFill>
              </a:rPr>
              <a:t>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5760720" cy="1005840"/>
          </a:xfrm>
          <a:prstGeom prst="roundRect">
            <a:avLst>
              <a:gd name="adj" fmla="val 6364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Copland Virtual Machine (CVM)</a:t>
            </a: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[3,4]</a:t>
            </a:r>
            <a:endParaRPr lang="en-US" sz="17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Copland phrases · dispatches ASPs according to manifest configurations · appraises results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337560" y="36210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78"/>
                </a:solidFill>
              </a:rPr>
              <a:t>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5760720" cy="868680"/>
          </a:xfrm>
          <a:prstGeom prst="roundRect">
            <a:avLst>
              <a:gd name="adj" fmla="val 7368"/>
            </a:avLst>
          </a:prstGeom>
          <a:solidFill>
            <a:srgbClr val="5665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88620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asp-libs</a:t>
            </a: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[5]</a:t>
            </a:r>
            <a:endParaRPr lang="en-US" sz="17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&amp; appraisal primitives: hash, readfile, signature, golden comparison, …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37560" y="47640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78"/>
                </a:solidFill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5029200"/>
            <a:ext cx="5760720" cy="868680"/>
          </a:xfrm>
          <a:prstGeom prst="roundRect">
            <a:avLst>
              <a:gd name="adj" fmla="val 7368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502920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evidence bundles</a:t>
            </a: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appraised against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baselines</a:t>
            </a: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[6]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6656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Copland protocol from the demo — the Isolette model class: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1828800"/>
            <a:ext cx="4754880" cy="2286000"/>
          </a:xfrm>
          <a:prstGeom prst="roundRect">
            <a:avLst>
              <a:gd name="adj" fmla="val 2000"/>
            </a:avLst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95160" y="182880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readfile Regulate.sysml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+&lt;+ readfile Monitor.sysml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+&lt;+ readfile Operator_Interface.sysml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+&lt;+ readfile oip_oit_app.rs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+&lt;+ readfile GUMBO_Library )</a:t>
            </a:r>
            <a:endParaRPr lang="en-US" sz="1300" dirty="0"/>
          </a:p>
          <a:p>
            <a:pPr marL="285750" indent="-285750" algn="l">
              <a:buFont typeface="Wingdings" pitchFamily="2" charset="2"/>
              <a:buChar char="è"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SIG/</a:t>
            </a:r>
          </a:p>
          <a:p>
            <a:pPr algn="l"/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APPR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420624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five blessed model files → 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sign the evidence (SIG)/ 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appraise it (APPR)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pybb: a blackboard architecture for attestation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383280" y="1024128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383280" y="1024128"/>
            <a:ext cx="24688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blessing</a:t>
            </a:r>
            <a:endParaRPr lang="en-US" sz="11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(signs golden spec)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931920" y="1591056"/>
            <a:ext cx="914" cy="310896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5544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3200400"/>
            <a:ext cx="548640" cy="914"/>
          </a:xfrm>
          <a:prstGeom prst="line">
            <a:avLst/>
          </a:prstGeom>
          <a:noFill/>
          <a:ln w="2540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0" y="16276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192024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0" y="1920240"/>
            <a:ext cx="23774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274320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0" y="2743200"/>
            <a:ext cx="23774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0" y="374904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0" y="3749040"/>
            <a:ext cx="23774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0" y="3200400"/>
            <a:ext cx="548640" cy="914"/>
          </a:xfrm>
          <a:prstGeom prst="line">
            <a:avLst/>
          </a:prstGeom>
          <a:noFill/>
          <a:ln w="2540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flipH="1">
            <a:off x="2487168" y="2286000"/>
            <a:ext cx="256032" cy="914"/>
          </a:xfrm>
          <a:prstGeom prst="line">
            <a:avLst/>
          </a:prstGeom>
          <a:noFill/>
          <a:ln w="25400">
            <a:solidFill>
              <a:srgbClr val="A333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487168" y="2286000"/>
            <a:ext cx="914" cy="1828800"/>
          </a:xfrm>
          <a:prstGeom prst="line">
            <a:avLst/>
          </a:prstGeom>
          <a:noFill/>
          <a:ln w="25400">
            <a:solidFill>
              <a:srgbClr val="A333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87168" y="4114800"/>
            <a:ext cx="256032" cy="914"/>
          </a:xfrm>
          <a:prstGeom prst="line">
            <a:avLst/>
          </a:prstGeom>
          <a:noFill/>
          <a:ln w="25400">
            <a:solidFill>
              <a:srgbClr val="A3332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89888" y="3931920"/>
            <a:ext cx="1088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fail:  no repair chain =&gt; escalate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H="1">
            <a:off x="1417320" y="2148840"/>
            <a:ext cx="1325880" cy="914"/>
          </a:xfrm>
          <a:prstGeom prst="line">
            <a:avLst/>
          </a:prstGeom>
          <a:noFill/>
          <a:ln w="25400">
            <a:solidFill>
              <a:srgbClr val="2C7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417320" y="2148840"/>
            <a:ext cx="914" cy="566928"/>
          </a:xfrm>
          <a:prstGeom prst="line">
            <a:avLst/>
          </a:prstGeom>
          <a:noFill/>
          <a:ln w="25400">
            <a:solidFill>
              <a:srgbClr val="2C7A3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⇒ re-measure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0" y="27432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0" y="2743200"/>
            <a:ext cx="20116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(evaluate = episode)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80960" y="3200400"/>
            <a:ext cx="548640" cy="914"/>
          </a:xfrm>
          <a:prstGeom prst="line">
            <a:avLst/>
          </a:prstGeom>
          <a:noFill/>
          <a:ln w="2540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98080" y="3246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0" y="2743200"/>
            <a:ext cx="10058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0" y="2743200"/>
            <a:ext cx="10058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235440" y="3200400"/>
            <a:ext cx="365760" cy="914"/>
          </a:xfrm>
          <a:prstGeom prst="line">
            <a:avLst/>
          </a:prstGeom>
          <a:noFill/>
          <a:ln w="25400">
            <a:solidFill>
              <a:srgbClr val="A3332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601200" y="2743200"/>
            <a:ext cx="10058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601200" y="2743200"/>
            <a:ext cx="10058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607040" y="3200400"/>
            <a:ext cx="365760" cy="914"/>
          </a:xfrm>
          <a:prstGeom prst="line">
            <a:avLst/>
          </a:prstGeom>
          <a:noFill/>
          <a:ln w="25400">
            <a:solidFill>
              <a:srgbClr val="A3332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972800" y="2743200"/>
            <a:ext cx="10058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972800" y="2743200"/>
            <a:ext cx="10058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63256" y="37673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on-fail: handoff to next repair KS 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(attempts spent, changes restored)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 flipV="1">
            <a:off x="8732520" y="2103120"/>
            <a:ext cx="914" cy="640080"/>
          </a:xfrm>
          <a:prstGeom prst="line">
            <a:avLst/>
          </a:prstGeom>
          <a:noFill/>
          <a:ln w="25400">
            <a:solidFill>
              <a:srgbClr val="2C7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 flipV="1">
            <a:off x="10104120" y="2103120"/>
            <a:ext cx="914" cy="640080"/>
          </a:xfrm>
          <a:prstGeom prst="line">
            <a:avLst/>
          </a:prstGeom>
          <a:noFill/>
          <a:ln w="25400">
            <a:solidFill>
              <a:srgbClr val="2C7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 flipV="1">
            <a:off x="11475720" y="2103120"/>
            <a:ext cx="914" cy="640080"/>
          </a:xfrm>
          <a:prstGeom prst="line">
            <a:avLst/>
          </a:prstGeom>
          <a:noFill/>
          <a:ln w="25400">
            <a:solidFill>
              <a:srgbClr val="2C7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675120" y="2103120"/>
            <a:ext cx="4800600" cy="914"/>
          </a:xfrm>
          <a:prstGeom prst="line">
            <a:avLst/>
          </a:prstGeom>
          <a:noFill/>
          <a:ln w="25400">
            <a:solidFill>
              <a:srgbClr val="2C7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675120" y="2103120"/>
            <a:ext cx="914" cy="594360"/>
          </a:xfrm>
          <a:prstGeom prst="line">
            <a:avLst/>
          </a:prstGeom>
          <a:noFill/>
          <a:ln w="25400">
            <a:solidFill>
              <a:srgbClr val="2C7A3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025896" y="17556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on-pass: restart-episode ⇒ fresh measurement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1475720" y="3657600"/>
            <a:ext cx="914" cy="1051560"/>
          </a:xfrm>
          <a:prstGeom prst="line">
            <a:avLst/>
          </a:prstGeom>
          <a:noFill/>
          <a:ln w="25400">
            <a:solidFill>
              <a:srgbClr val="A333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931920" y="4709160"/>
            <a:ext cx="7543800" cy="914"/>
          </a:xfrm>
          <a:prstGeom prst="line">
            <a:avLst/>
          </a:prstGeom>
          <a:noFill/>
          <a:ln w="25400">
            <a:solidFill>
              <a:srgbClr val="A333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 flipV="1">
            <a:off x="3931920" y="4498848"/>
            <a:ext cx="914" cy="210312"/>
          </a:xfrm>
          <a:prstGeom prst="line">
            <a:avLst/>
          </a:prstGeom>
          <a:noFill/>
          <a:ln w="25400">
            <a:solidFill>
              <a:srgbClr val="A3332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766560" y="4773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rungs exhausted → escalate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0" y="3657600"/>
            <a:ext cx="914" cy="182880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417320" y="5486400"/>
            <a:ext cx="4983480" cy="914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 flipV="1">
            <a:off x="1417320" y="3675888"/>
            <a:ext cx="914" cy="1810512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377440" y="55412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⇒ run measurement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" y="5989320"/>
            <a:ext cx="813816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68680" y="5989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repair ladder: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rung's exhaustion is a </a:t>
            </a: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diagnosis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failure— every repair is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only by </a:t>
            </a: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re-measurement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pybb: key components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Tx/>
              <a:buChar char="•"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Blackboard Entry (Key)</a:t>
            </a: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measurement under judgment:  its measurement content, current standing, repair history</a:t>
            </a:r>
            <a:endParaRPr lang="en-US" sz="200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Blackboard</a:t>
            </a: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collection of entries:  the shared measurement store updated cooperatively by blackboard components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</a:t>
            </a: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division of blackboard entries among different workflow stages (i.e. provision, certify, escalate) 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</a:t>
            </a: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fresh judgment of entries: new measurement of (live) target artifacts, local repair attempts, episodes end only by escalation or restarting new episode </a:t>
            </a:r>
          </a:p>
          <a:p>
            <a:pPr marL="342900" indent="-342900" algn="l">
              <a:buSzPct val="100000"/>
              <a:buChar char="•"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evaluates every provisioned entry, dispatches onto appraisal-outcome-routed chains of knowledge sources, halts (or escalates) only when entries are in good standing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source (KS)</a:t>
            </a: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operates only on entries in its partition (optionally a single component), bounded by max attempts; its work is always re-judged, never trusted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per-key control flow chains: </a:t>
            </a:r>
            <a:r>
              <a:rPr lang="en-US" sz="2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on_fail </a:t>
            </a: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repair ladder, </a:t>
            </a:r>
            <a:r>
              <a:rPr lang="en-US" sz="2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on_pass </a:t>
            </a: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confirmation chain before good standing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/ Ledger</a:t>
            </a: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blackboard's running record of every change across all partitions (measurements, repairs, verdicts), documenting the audit trail of the repair lifecycle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 classes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 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how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Judged by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whole-file hash of spec files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appraisal vs the signed golden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restore from golden — or </a:t>
                      </a:r>
                      <a:r>
                        <a:rPr lang="en-US" sz="1250" i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bless</a:t>
                      </a: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(sanctioned change)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syntax-guided file slices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slice-level appraisal, attributed by 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restore golden slice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developer-owned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+ verification of contracts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synthesis/repair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/ Verification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verification run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kernel — fresh, never cached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synthesis/repair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Toolchain </a:t>
                      </a:r>
                      <a:r>
                        <a:rPr lang="en-US" sz="1100" i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(cross-cutting)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hashed </a:t>
                      </a: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measure-then-use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tool hash(es), taken in the same term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out-of-band or pre-sanctioned restore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state </a:t>
                      </a:r>
                      <a:r>
                        <a:rPr lang="en-US" sz="1100" i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(cross-cutting)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bundles, goldens, signatures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appraisal vs the signed golden or derived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principled refusal</a:t>
                      </a: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— out-of-band re-bless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2834640"/>
            <a:ext cx="2044598" cy="777240"/>
          </a:xfrm>
          <a:prstGeom prst="roundRect">
            <a:avLst>
              <a:gd name="adj" fmla="val 823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204459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Preliminaries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629814" y="28346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49270" y="2834640"/>
            <a:ext cx="2044598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49270" y="2834640"/>
            <a:ext cx="204459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Isolette (SysMLv2 → Rust)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39005" y="28346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58461" y="2834640"/>
            <a:ext cx="2044598" cy="777240"/>
          </a:xfrm>
          <a:prstGeom prst="roundRect">
            <a:avLst>
              <a:gd name="adj" fmla="val 823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58461" y="2834640"/>
            <a:ext cx="204459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Ecosystems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048195" y="28346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67651" y="2834640"/>
            <a:ext cx="2044598" cy="777240"/>
          </a:xfrm>
          <a:prstGeom prst="roundRect">
            <a:avLst>
              <a:gd name="adj" fmla="val 823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67651" y="2834640"/>
            <a:ext cx="204459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the Loop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257386" y="28346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476842" y="2834640"/>
            <a:ext cx="2044598" cy="777240"/>
          </a:xfrm>
          <a:prstGeom prst="roundRect">
            <a:avLst>
              <a:gd name="adj" fmla="val 823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76842" y="2834640"/>
            <a:ext cx="204459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5097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Isolette Example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810512"/>
            <a:ext cx="61539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3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system: </a:t>
            </a: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infant-incubator thermostat that regulates and monitors a newborn's environment to maintain a safe temperature range (heat control on/off)</a:t>
            </a: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[7]</a:t>
            </a:r>
            <a:endParaRPr lang="en-US" sz="1350" dirty="0"/>
          </a:p>
          <a:p>
            <a:pPr marL="628650" lvl="1" indent="-17145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traceable to FAA AR-08-32 [10] (the REQ-MHS-* family the scenes will tamper with)</a:t>
            </a:r>
            <a:endParaRPr lang="en-US" sz="1350" dirty="0"/>
          </a:p>
          <a:p>
            <a:pPr marL="342900" indent="-342900" algn="l">
              <a:buSzPct val="100000"/>
              <a:buChar char="•"/>
            </a:pPr>
            <a:r>
              <a:rPr lang="en-US" sz="13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relevance: </a:t>
            </a: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INSPECTA program's seL4/Microkit HAMR-based pipeline</a:t>
            </a: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[11]</a:t>
            </a:r>
            <a:endParaRPr lang="en-US" sz="1350" dirty="0"/>
          </a:p>
          <a:p>
            <a:pPr marL="800100" lvl="1" indent="-342900">
              <a:buSzPct val="100000"/>
              <a:buFont typeface="Courier New" panose="02070309020205020404" pitchFamily="49" charset="0"/>
              <a:buChar char="o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current, safety-critical development artifact, not a toy example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3630168"/>
            <a:ext cx="1275588" cy="777240"/>
          </a:xfrm>
          <a:prstGeom prst="roundRect">
            <a:avLst>
              <a:gd name="adj" fmla="val 7059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630168"/>
            <a:ext cx="127558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SysMLv2 model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GUMBO contracts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79092" y="3630168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26564" y="3630168"/>
            <a:ext cx="1275588" cy="777240"/>
          </a:xfrm>
          <a:prstGeom prst="roundRect">
            <a:avLst>
              <a:gd name="adj" fmla="val 7059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26564" y="3630168"/>
            <a:ext cx="127558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[8,9]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65576" y="3630168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13048" y="3630168"/>
            <a:ext cx="1275588" cy="777240"/>
          </a:xfrm>
          <a:prstGeom prst="roundRect">
            <a:avLst>
              <a:gd name="adj" fmla="val 7059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13048" y="3630168"/>
            <a:ext cx="127558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Verus-verified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[12]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52060" y="3630168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99532" y="3630168"/>
            <a:ext cx="1275588" cy="777240"/>
          </a:xfrm>
          <a:prstGeom prst="roundRect">
            <a:avLst>
              <a:gd name="adj" fmla="val 7059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99532" y="3630168"/>
            <a:ext cx="127558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seL4 + Microkit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[13]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502920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3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example: </a:t>
            </a: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class from the previous slide is present and measured — blessed model, generated contracts, developer-owned implementation, machine-checked proofs, pinned toolchain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040880" y="1627632"/>
            <a:ext cx="4480560" cy="676656"/>
          </a:xfrm>
          <a:prstGeom prst="roundRect">
            <a:avLst>
              <a:gd name="adj" fmla="val 8108"/>
            </a:avLst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78040" y="1627632"/>
            <a:ext cx="1234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119872" y="1627632"/>
            <a:ext cx="3355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files (SysMLv2 packages, Verus-contract-bearing Rust)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40880" y="2377440"/>
            <a:ext cx="4480560" cy="676656"/>
          </a:xfrm>
          <a:prstGeom prst="roundRect">
            <a:avLst>
              <a:gd name="adj" fmla="val 8108"/>
            </a:avLst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78040" y="2377440"/>
            <a:ext cx="1234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58200" y="2377440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slices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3127248"/>
            <a:ext cx="4480560" cy="676656"/>
          </a:xfrm>
          <a:prstGeom prst="roundRect">
            <a:avLst>
              <a:gd name="adj" fmla="val 8108"/>
            </a:avLst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78040" y="3127248"/>
            <a:ext cx="1234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458200" y="3127248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crates re-verified every episode (7 components and the system-level proof)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40880" y="3877056"/>
            <a:ext cx="4480560" cy="676656"/>
          </a:xfrm>
          <a:prstGeom prst="roundRect">
            <a:avLst>
              <a:gd name="adj" fmla="val 8108"/>
            </a:avLst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78040" y="3877056"/>
            <a:ext cx="1234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1,862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458200" y="387705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system-proof obligations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40880" y="4626864"/>
            <a:ext cx="4480560" cy="676656"/>
          </a:xfrm>
          <a:prstGeom prst="roundRect">
            <a:avLst>
              <a:gd name="adj" fmla="val 8108"/>
            </a:avLst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78040" y="4626864"/>
            <a:ext cx="1234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8458200" y="4626864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 + dependency files hashed measure-then-use (4 Verus · 9 HAMR · 17 SysML libs)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40880" y="5376672"/>
            <a:ext cx="4480560" cy="676656"/>
          </a:xfrm>
          <a:prstGeom prst="roundRect">
            <a:avLst>
              <a:gd name="adj" fmla="val 8108"/>
            </a:avLst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78040" y="5376672"/>
            <a:ext cx="1234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458200" y="537667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tiers — the blackboard's entry keys: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· l1a · l2 · verus · cheat · sysproof · gensrc · report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consistent baseline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scene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artifacts start in a “pass” state with integrity against golden values and 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implementations meet their contracts.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05332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./examples/demo_isolette.sh --scenes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5660136"/>
            <a:ext cx="2734056" cy="731520"/>
          </a:xfrm>
          <a:prstGeom prst="roundRect">
            <a:avLst>
              <a:gd name="adj" fmla="val 8750"/>
            </a:avLst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09360" y="5660136"/>
            <a:ext cx="2587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attested  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refuted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poisoned (untrustworthy)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 drift: benign, promote then re-verify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scene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benign change in requirements — the temperature alarm range widened — model appraisal fails quickly.  Administrator re-blesses new spec, all contract appraisals again pass.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05332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./examples/demo_isolette.sh --scenes 3 --drift range         (ruling at the prompt: bless)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drift: benign, re-verify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scene 13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rewrites semantically equivalent implementation logic.  The hash moves, but </a:t>
            </a:r>
            <a:endParaRPr lang="en-US" sz="2000" dirty="0"/>
          </a:p>
          <a:p>
            <a:pPr marL="0" indent="0">
              <a:buNone/>
            </a:pPr>
            <a:r>
              <a:rPr lang="en-US" sz="2000" b="1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contract slice maintains integrity</a:t>
            </a:r>
            <a:r>
              <a:rPr lang="en-US" sz="2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the proofs re-verify: the benign change survives.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05332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./examples/demo_isolette.sh --scenes 13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IV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drift: breaking, restore then attempt re-verification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3697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scene 14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untouched, but a live Verus contract is weakened (</a:t>
            </a:r>
            <a:r>
              <a:rPr lang="en-US" sz="2000" b="1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codegen, but before verification</a:t>
            </a:r>
            <a:r>
              <a:rPr lang="en-US" sz="2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the code is inverted to match — verus checks pass.  Contract repair (restoring the true Verus contract) exposes the verification failure.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05332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./examples/demo_isolette.sh --scenes 14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drift: breaking, diagnose then repair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3697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scene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code (developer-owned) changes, breaking a Verus contract.  Blackboard loop diagnoses, repairs, then </a:t>
            </a:r>
            <a:r>
              <a:rPr lang="en-US" sz="2000" b="1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artifact to good standing only by re-measurement</a:t>
            </a:r>
            <a:r>
              <a:rPr lang="en-US" sz="2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05332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./examples/demo_isolette.sh --scenes 2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drift:  tampered evidence bundle, protocol, tooling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3697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scenes 6 + 7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signed golden evidence bundle, an installed (live) golden value in the appraisal protocol, then the verification tool itself — each tamper attributed, </a:t>
            </a:r>
            <a:r>
              <a:rPr lang="en-US" sz="2000" b="1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refused by cryptographic checks</a:t>
            </a:r>
            <a:r>
              <a:rPr lang="en-US" sz="2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05332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./examples/demo_isolette.sh --scenes "6 7"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VII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Axiom drift:  semantic measurement detects axioms and unsound proof techniques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3697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scenes 9 + 12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 verify, but measurement detects </a:t>
            </a:r>
            <a:r>
              <a:rPr lang="en-US" sz="2000" b="1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cheating in proof attempts, 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would otherwise undermine verification soundness.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05332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./examples/demo_isolette.sh --scenes "9 12"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2834640"/>
            <a:ext cx="2044598" cy="777240"/>
          </a:xfrm>
          <a:prstGeom prst="roundRect">
            <a:avLst>
              <a:gd name="adj" fmla="val 823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204459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Preliminaries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629814" y="28346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49270" y="2834640"/>
            <a:ext cx="2044598" cy="777240"/>
          </a:xfrm>
          <a:prstGeom prst="roundRect">
            <a:avLst>
              <a:gd name="adj" fmla="val 823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49270" y="2834640"/>
            <a:ext cx="204459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Isolette (SysMLv2 → Rust)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39005" y="28346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58461" y="2834640"/>
            <a:ext cx="2044598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58461" y="2834640"/>
            <a:ext cx="204459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Ecosystems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048195" y="28346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67651" y="2834640"/>
            <a:ext cx="2044598" cy="777240"/>
          </a:xfrm>
          <a:prstGeom prst="roundRect">
            <a:avLst>
              <a:gd name="adj" fmla="val 823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67651" y="2834640"/>
            <a:ext cx="204459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the Loop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257386" y="28346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476842" y="2834640"/>
            <a:ext cx="2044598" cy="777240"/>
          </a:xfrm>
          <a:prstGeom prst="roundRect">
            <a:avLst>
              <a:gd name="adj" fmla="val 823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76842" y="2834640"/>
            <a:ext cx="204459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blackboard, many artifact pipelines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blackboard infrastructure and artifact classes don’t change — only the </a:t>
            </a:r>
            <a:r>
              <a:rPr lang="en-US" sz="1500" b="1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around them does</a:t>
            </a:r>
            <a:r>
              <a:rPr lang="en-US" sz="15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modeling language, prover, 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runtime, and attestation primitives.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5564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SysML v2 → HAMR → Rust / Verus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77824" y="21031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isolette</a:t>
            </a:r>
            <a:r>
              <a:rPr lang="en-US" sz="105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◀ the demo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4846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SysMLv2 GUMBO component contracts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seL4 / Microkit runtime target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class measured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175564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AADL → HAMR → Slang / Logika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501384" y="21031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temp-control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37960" y="2423160"/>
            <a:ext cx="4846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AADL GUMBO component contracts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runtime target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blackboard, similar Copland protocols to SysMLv2 pipeline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17880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Rust / Verus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77824" y="45262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find-max-verus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4846320"/>
            <a:ext cx="4846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+ proofs written directly in Verus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model, no codegen — implementation + proof classes only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Proof-repair experiments</a:t>
            </a:r>
            <a:endParaRPr lang="en-US" sz="1200" dirty="0"/>
          </a:p>
          <a:p>
            <a:pPr marL="800100" lvl="1" indent="-342900">
              <a:spcAft>
                <a:spcPts val="4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AutoVerus</a:t>
            </a:r>
            <a:endParaRPr lang="en-US" sz="1200" dirty="0"/>
          </a:p>
          <a:p>
            <a:pPr marL="800100" lvl="1" indent="-342900">
              <a:spcAft>
                <a:spcPts val="4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 Dogtreat linear planner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406908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92240" y="417880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Theorem Provers:  Lean / Rocq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501384" y="45262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landing-gear, temp-control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37960" y="4846320"/>
            <a:ext cx="4846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Blessed theorem statements, workflow-owned implementations, proofs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Tactic-driven and LLM-driven proof repair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Goal-directed: attestation enforces one invariant while synthesis iterates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ITP-specific axiom checks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2834640"/>
            <a:ext cx="2044598" cy="777240"/>
          </a:xfrm>
          <a:prstGeom prst="roundRect">
            <a:avLst>
              <a:gd name="adj" fmla="val 823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204459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Preliminaries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629814" y="28346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49270" y="2834640"/>
            <a:ext cx="2044598" cy="777240"/>
          </a:xfrm>
          <a:prstGeom prst="roundRect">
            <a:avLst>
              <a:gd name="adj" fmla="val 823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49270" y="2834640"/>
            <a:ext cx="204459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Isolette (SysMLv2 → Rust)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39005" y="28346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58461" y="2834640"/>
            <a:ext cx="2044598" cy="777240"/>
          </a:xfrm>
          <a:prstGeom prst="roundRect">
            <a:avLst>
              <a:gd name="adj" fmla="val 823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58461" y="2834640"/>
            <a:ext cx="204459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Ecosystems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048195" y="28346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67651" y="2834640"/>
            <a:ext cx="2044598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67651" y="2834640"/>
            <a:ext cx="204459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the Loop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257386" y="28346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476842" y="2834640"/>
            <a:ext cx="2044598" cy="777240"/>
          </a:xfrm>
          <a:prstGeom prst="roundRect">
            <a:avLst>
              <a:gd name="adj" fmla="val 823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76842" y="2834640"/>
            <a:ext cx="204459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</a:t>
            </a:r>
            <a:r>
              <a:rPr lang="en-US" sz="4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</a:t>
            </a: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the loop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artifact synthesis/repair;  verified, deterministic appraisal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82496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stage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LLMs participate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Guardrail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spec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draft or restate specs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 human administrator may authenticate a new spec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spec-guided synthesis / re-derivation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must meet its formal contracts, checked by legitimate toolchain, derived from human-blessed spec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Suggests tactic portfolio (deterministic at runtime) · API calls + LLM-assisted desktop sessions (loop is paused) · Proof repair agents (AutoVerus · KU Dogtreat linear planner)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fresh measurement re-establishes good standing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&amp; appraisal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by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kernels (Rocq, Lean, Verus), formally-verified attestation managers (evidence unbundling), trusted attestation primitives (hash checks, semantic analysis of source code, etc.)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/ trust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by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Cryptographic immutability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</a:t>
            </a:r>
            <a:r>
              <a:rPr lang="en-US" sz="4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</a:t>
            </a: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the loop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blackboard and attestation infrastructure, artifact measurements, attestation protocols, attacks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AI built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trust it (or not)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Blackboard infrastructure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pybb framework (blackboard, controller, knowledge sources), demo arcs, install script, CI suite, detailed 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 in python is untrusted,</a:t>
                      </a: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but evidence bundles are independently-verifiable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CVM core &amp; frontends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bpar</a:t>
                      </a: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(parallel Copland term) </a:t>
                      </a:r>
                      <a:r>
                        <a:rPr lang="en-US" sz="1200" i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verified CVM core,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CVM frontend fixes (</a:t>
                      </a:r>
                      <a:r>
                        <a:rPr lang="en-US" sz="120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--stdin, --req_file </a:t>
                      </a: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Rocq proofs w.r.t. CVM reference semantics --</a:t>
                      </a: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couldn’t update existing proofs automatically, but assisted an expert Rocq developer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 primitives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new + 7 upgraded</a:t>
                      </a: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asp-libs binaries (hashing, the Lean/Rocq/HAMR runners &amp; appraisers, cheat scan, golden-slice extraction)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attestation primitives are untrusted, require manual inspection (or formal analysis)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Attestation protocols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provisioned</a:t>
                      </a: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Copland protocol directories across the ecosystems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Copland protocol analysis bolsters trust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tampers + </a:t>
                      </a: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red-team attack classes </a:t>
                      </a: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(see next slide)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 “counter-examples” show attacks succeeding, </a:t>
                      </a: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undetected by existing measurement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04418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virtuous cycle – </a:t>
            </a: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workflow to add (deterministic) tools and domain-specific measurement capabilities.  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</a:t>
            </a:r>
            <a:r>
              <a:rPr lang="en-US" sz="4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attacked</a:t>
            </a: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the loop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attack types, each undetected at discovery time — each forced a new measurement capability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36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Avoided detection by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measurement forced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ADMIT</a:t>
                      </a: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— </a:t>
                      </a:r>
                      <a:r>
                        <a:rPr lang="en-US" sz="110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assume(false) </a:t>
                      </a: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an unmeasured bridge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cargo-verus reports the same success over the hollow proof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cheat scan (</a:t>
                      </a:r>
                      <a:r>
                        <a:rPr lang="en-US" sz="110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cheat_scan_verus</a:t>
                      </a: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SMUGGLE</a:t>
                      </a: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— </a:t>
                      </a:r>
                      <a:r>
                        <a:rPr lang="en-US" sz="110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external_body </a:t>
                      </a: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broadcast axiom, ensures false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cargo-verus reports the same success over the hollow proof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cheat scan (</a:t>
                      </a:r>
                      <a:r>
                        <a:rPr lang="en-US" sz="110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cheat_scan_verus</a:t>
                      </a: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</a:t>
                      </a: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— system-proof module commented 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smaller crate still verifies, 0 errors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sysproof file hashes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</a:t>
                      </a: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— contract dropped, trivial one added, same 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outcome, count, escape surface all unchanged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sysproof file hashes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</a:t>
                      </a: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— semantic flip in a cached dep, </a:t>
                      </a:r>
                      <a:r>
                        <a:rPr lang="en-US" sz="110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mtime</a:t>
                      </a: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preserved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mtime-gated cache serves the stale 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gensrc</a:t>
                      </a: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measurement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</a:t>
                      </a: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— heat command flipped in unverified FFI glue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Verus never reads the body (unverified code, out of scope)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gensrc</a:t>
                      </a: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measurement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LAUNDER</a:t>
                      </a: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— contract weakened + impl inverted to 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in contract coverage for attestation report’s compute_cases construct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stopgap contract measurement, contract coverage check at provisioning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144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co-development</a:t>
            </a: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defense-in-depth, anomaly detection, proposed mitigation.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foundations</a:t>
            </a:r>
            <a:endParaRPr lang="en-US" sz="140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Thomas, Schmalz, Petz, Alexander, Guttman, Rowe, Carter, </a:t>
            </a: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Trustworthy Layered Attestations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arXiv:2603.06326, 2026</a:t>
            </a:r>
            <a:endParaRPr lang="en-US" sz="140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Ramsdell, Rowe, Alexander, Helble, Loscocco, Pendergrass, Petz, </a:t>
            </a: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Orchestrating Layered Attestations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POST 2019, LNCS 11426, pp. 197–221</a:t>
            </a:r>
            <a:endParaRPr lang="en-US" sz="140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Copland Virtual Machine (CVM), KU SLDG: github.com/ku-sldg/cvm</a:t>
            </a:r>
            <a:endParaRPr lang="en-US" sz="140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Petz, Thomas, Fritz, Barclay, Schmalz, Alexander, </a:t>
            </a: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Configuration and Deployment of Layered Attestation Managers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SEFM 2024, LNCS 15280, pp. 290–308</a:t>
            </a:r>
            <a:endParaRPr lang="en-US" sz="140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asp-libs (attestation service provider libraries), KU SLDG: github.com/ku-sldg/asp-libs</a:t>
            </a:r>
            <a:endParaRPr lang="en-US" sz="140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Petz &amp; Alexander, </a:t>
            </a: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Verified Bundling and Appraisal of Evidence for Layered Attestations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Innovations in Systems and Software Engineering 19(4), 2023, pp. 411–426</a:t>
            </a:r>
            <a:endParaRPr lang="en-US" sz="1400" dirty="0"/>
          </a:p>
          <a:p>
            <a:pPr marL="0" indent="0" algn="l">
              <a:spcBef>
                <a:spcPts val="12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isolette &amp; HAMR (Kansas State)</a:t>
            </a:r>
            <a:endParaRPr lang="en-US" sz="140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Hatcliff &amp; Belt, </a:t>
            </a: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Isolette System: Illustrating End-to-End Artifacts for Rigorous Model-Based Engineering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Springer LNCS 15240, 2025, pp. 93–117</a:t>
            </a:r>
            <a:endParaRPr lang="en-US" sz="140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Hatcliff, Belt, Robby, McKenzie, Liang, </a:t>
            </a: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Formal Methods Integrated Development with SysMLv2 Using HAMR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FMICS 2025, Springer LNCS 16040, pp. 241–260</a:t>
            </a:r>
            <a:endParaRPr lang="en-US" sz="140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Hatcliff, Belt, Robby, Carpenter, </a:t>
            </a: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HAMR: An AADL Multi-platform Code Generation Toolset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ISoLA 2021, LNCS 13036, pp. 274–295</a:t>
            </a:r>
            <a:endParaRPr lang="en-US" sz="140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 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Lempia &amp; Miller, </a:t>
            </a: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 Management Handbook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DOT/FAA/AR-08/32, 2009</a:t>
            </a:r>
            <a:endParaRPr lang="en-US" sz="140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 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INSPECTA models: github.com/loonwerks/INSPECTA-models</a:t>
            </a:r>
            <a:endParaRPr lang="en-US" sz="1400" dirty="0"/>
          </a:p>
          <a:p>
            <a:pPr marL="0" indent="0" algn="l">
              <a:spcBef>
                <a:spcPts val="12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platform</a:t>
            </a:r>
            <a:endParaRPr lang="en-US" sz="140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 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Lattuada, Hance, Cho, Brun, Subasinghe, Zhou, Howell, Parno, Hawblitzel, </a:t>
            </a: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Verus: Verifying Rust Programs using Linear Ghost Types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PACMPL 7 (OOPSLA1), 2023</a:t>
            </a:r>
            <a:endParaRPr lang="en-US" sz="140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 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 et al., </a:t>
            </a: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seL4: Formal Verification of an OS Kernel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SOSP 2009, pp. 207–220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4954</Words>
  <Application>Microsoft Macintosh PowerPoint</Application>
  <PresentationFormat>Widescreen</PresentationFormat>
  <Paragraphs>375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Cambria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Petz, Adam Michael</cp:lastModifiedBy>
  <cp:revision>6</cp:revision>
  <dcterms:created xsi:type="dcterms:W3CDTF">2026-09-04T15:23:53Z</dcterms:created>
  <dcterms:modified xsi:type="dcterms:W3CDTF">2026-09-08T15:22:51Z</dcterms:modified>
</cp:coreProperties>
</file>
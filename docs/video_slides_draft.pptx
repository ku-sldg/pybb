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39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33110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card. Subtitle deliberately names the four core artifact classes - the deck's first echo of the artifact-class table (slide 6). Optional footer: INSPECTA program context.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Promise the audience every demo scene echoes the banner.
The administrator's bless survives 'every': authority enters the system only AS signed evidence (the blessed baseline), never by assertion - scene 6's laundering beat proves exactly that.
Subline payoffs: developer claims -&gt; scenes 5/7; untrusted tools -&gt; scene 7; LLM outputs -&gt; capstone slides A/B; cached verdicts -&gt; scene 11.
Visual TODO: three-stage widening-scope progression (boot-time -&gt; layered runtime -&gt; lifecycle loop) to replace/join the bullets.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~15 seconds on first appearance; afterwards it rides on transition slides for free.
Design decision: one master/layout holds the strip text so a section rename is a single edit. Header titles are provisional.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phrase of 'what this layer contributes' each; asp-libs has its own layer box; keep it to one spoken clause (its inventory returns as a star of capstone slide B).
On the snippet: 'you don't need to read this - you need to know it's a formal object with an evidence semantics.' Measure the five blessed model files, sign the evidence, appraise it.
Snippet source: tests/fixtures/isolette_sysmlv2_rust_props/term.json, rendered in concrete syntax (branches flattened, target IDs shortened to file names - cosmetic).
The verus-tier measure-then-use phrase is deliberately held back for scene 7's reveal.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vocabulary minimal: entry, episode, knowledge source, ladder, escalate. Everything else is detail the scenes show live.
Semantics verified against the pybb README control flow: green = on-pass (results return to the Controller; standing re-established only by its re-evaluation, with restart-episode forcing genuinely fresh measurement); red = on-fail (handoff on exhaustion with changes restored; exhausted routes escalate; provision requests have no repair chains and escalate immediately - the readiness-gate refusal).
The Administrator blessing box is dashed/white: a human, out-of-band authority act, not a component in the measured loop - only exit from a refused baseline (scene 6).
Speaker-note-only details (cut from the slide): on_pass/on_fail dispatch mechanics, success-driven handoff for component-wise entries, max_attempts per rung.
The legend earns its space: every scene's checklist frames render through these glyphs.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audience's glossary for the terminal scenes - point back at the slide-5 diagram while reading it.
Entry keys in the real demos are the provisioned protocols: ready (the readiness gate), isolette_sysmlv2_rust_props (blessed model), _l1a (file hashes), _l2 (contract slices), _verus, _cheat, _sysproof, _gensrc, _report. Every row of the checklist the audience is about to watch is one of these keys.
Predicate and restart-episode are deliberately OFF this slide (parked; placement TBD - possibly an 'evaluation primitives' strip). If asked: a predicate is the judge (one evaluation = one attestation episode), restart-episode is the freshness primitive (forget memoized verdicts, reset, re-evaluate).
Also deliberately excluded (README-level detail): partition mechanics, component-wise entries and success handoff, dispatch latching, max_cycles.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last two rows are the surprising ones - scenes 6-7 exist for them.
Spoken hook (never on-slide text): 'This table is deliberately incomplete - the demo will show why.' The cheat / sysproof / gensrc tiers are capstone slide C's punchline: attacks forced them into existence. Do not pre-introduce them here.
Same column shape (class -&gt; measured how -&gt; judged by -&gt; repair) as capstone slide B, so the audience recognizes it when it returns.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section transition into the demo (strip: Demo segment highlighted).
The tiers callout is the bridge: these keys are the glossary's entry keys, and every checklist row in the scenes is one of them.
Spoken line on the why-beat: 'the table you just saw, instantiated.'
Held back on purpose (scene 9's reveal): cheat-tier depth stats - 86 blessed external_body sites, 10 scanned crates.
Numbers verified exact 2026-08-25 (l1a targets, l2 slices, verus term, pub-proof-fn count); provision-dependent - re-verify before recording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Collection point for every reference in the deck - keep this slide current as sections are added (isolette slide carries the K-State + AR-08-32 citations inline; Copland/Verus/seL4 seeded here ahead of their sections).
DOIs on record in docs/video_slide_drafts.md.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Lifecycle Attestation with pybb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3291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trust across models, contracts, implementations, and proofs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Presenter name  ·  affiliation  ·  date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lifecycle attestation?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972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remote attestation: did system components boot into a predictable state?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(boot-time, static runtime)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Layered, runtime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boot-time trust via dynamic measurement of system components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their context/dependencies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attestation: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this notion to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artifacts of the development lifecycle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models, contracts, implementations, proofs, toolchains</a:t>
            </a:r>
            <a:endParaRPr lang="en-US" sz="1700" dirty="0"/>
          </a:p>
          <a:p>
            <a:pPr marL="685800" lvl="1" indent="-342900" algn="l">
              <a:spcAft>
                <a:spcPts val="1000"/>
              </a:spcAft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…including the attestation infrastructure and evidence itself</a:t>
            </a:r>
            <a:endParaRPr lang="en-US" sz="1700" dirty="0"/>
          </a:p>
          <a:p>
            <a:pPr marL="685800" lvl="1" indent="-342900" algn="l">
              <a:buSzPct val="100000"/>
              <a:buChar char="–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lifecycle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 drift (sanctioned or not)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tampering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synthesis</a:t>
            </a:r>
            <a:endParaRPr lang="en-US" sz="1700" dirty="0"/>
          </a:p>
          <a:p>
            <a:pPr marL="1028700" lvl="2" indent="-342900" algn="l">
              <a:spcAft>
                <a:spcPts val="200"/>
              </a:spcAft>
              <a:buSzPct val="100000"/>
              <a:buChar char="▪"/>
            </a:pP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artifact repair</a:t>
            </a:r>
            <a:endParaRPr lang="en-US" sz="1700" dirty="0"/>
          </a:p>
          <a:p>
            <a:pPr marL="342900" indent="-342900" algn="l">
              <a:buSzPct val="100000"/>
              <a:buChar char="•"/>
            </a:pP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Motivation: 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r>
              <a:rPr lang="en-US" sz="17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proliferation of AI-generated software artifacts</a:t>
            </a:r>
            <a:r>
              <a:rPr lang="en-US" sz="17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amid the need for rapid re-certification of systems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507492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5074920"/>
            <a:ext cx="10332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trust decision is grounded in cryptographic attestation evidence.</a:t>
            </a:r>
            <a:endParaRPr lang="en-US" sz="2000" dirty="0"/>
          </a:p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is NOT anchored in the following:  developer claims, untrusted tools, LLM outputs, cached verdicts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2629814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849270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849270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83900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5846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5846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048195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267651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7267651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257386" y="2834640"/>
            <a:ext cx="274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476842" y="2834640"/>
            <a:ext cx="2044598" cy="777240"/>
          </a:xfrm>
          <a:prstGeom prst="roundRect">
            <a:avLst>
              <a:gd name="adj" fmla="val 8235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476842" y="2834640"/>
            <a:ext cx="204459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3977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headers provisional — the strip returns at every act transition with the current section highlighted.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core attestation stack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68680" y="13258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Copland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protocols as formal terms with an evidence semantics: what was measured, in what order, signed by whom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337560" y="234086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606040"/>
            <a:ext cx="5760720" cy="1005840"/>
          </a:xfrm>
          <a:prstGeom prst="roundRect">
            <a:avLst>
              <a:gd name="adj" fmla="val 6364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CVM — Copland Virtual Machine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Copland phrases · dispatches ASPs according to manifest configurations · appraises results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337560" y="3621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56659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68680" y="3886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asp-libs</a:t>
            </a:r>
            <a:endParaRPr lang="en-US" sz="17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 &amp; appraisal primitives: hash, readfile, signature, golden comparison, …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337560" y="4764024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478"/>
                </a:solidFill>
              </a:rPr>
              <a:t>▼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5029200"/>
            <a:ext cx="5760720" cy="868680"/>
          </a:xfrm>
          <a:prstGeom prst="roundRect">
            <a:avLst>
              <a:gd name="adj" fmla="val 7368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68680" y="5029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evidence bundles</a:t>
            </a:r>
            <a:r>
              <a:rPr lang="en-US" sz="15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appraised against </a:t>
            </a: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baselines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766560" y="1417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protocol from the demo — the isolette model class: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66560" y="1828800"/>
            <a:ext cx="4754880" cy="22860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995160" y="1828800"/>
            <a:ext cx="42976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 readfile Regulate.sysml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Monitor.sysml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Operator_Interface.sysml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oip_oit_app.rs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+&lt;+ readfile GUMBO_Library )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-&gt; SIG -&gt; APPR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66560" y="4206240"/>
            <a:ext cx="4754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the five blessed model files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sign the evidence (SIG) → </a:t>
            </a:r>
            <a:endParaRPr lang="en-US" sz="2000" dirty="0"/>
          </a:p>
          <a:p>
            <a:pPr marL="0" indent="0">
              <a:buNone/>
            </a:pPr>
            <a:r>
              <a:rPr lang="en-US" sz="20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appraise it (APPR)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9260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a blackboard architecture for attestation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383280" y="1024128"/>
            <a:ext cx="246888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9050">
            <a:solidFill>
              <a:srgbClr val="1E2761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383280" y="1024128"/>
            <a:ext cx="246888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 blessing</a:t>
            </a:r>
            <a:endParaRPr lang="en-US" sz="1150" dirty="0"/>
          </a:p>
          <a:p>
            <a:pPr marL="0" indent="0" algn="ctr">
              <a:buNone/>
            </a:pPr>
            <a:r>
              <a:rPr lang="en-US" sz="105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(signs golden spec)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931920" y="1591056"/>
            <a:ext cx="914" cy="310896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041648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bless ⇒ provision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15544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2743200"/>
            <a:ext cx="15544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1945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743200" y="162763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743200" y="19202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743200" y="19202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0" y="2743200"/>
            <a:ext cx="23774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0" y="274320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743200" y="3749040"/>
            <a:ext cx="2377440" cy="731520"/>
          </a:xfrm>
          <a:prstGeom prst="roundRect">
            <a:avLst>
              <a:gd name="adj" fmla="val 7500"/>
            </a:avLst>
          </a:prstGeom>
          <a:solidFill>
            <a:srgbClr val="CADCF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3749040"/>
            <a:ext cx="237744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 flipH="1">
            <a:off x="2487168" y="22860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487168" y="2286000"/>
            <a:ext cx="914" cy="182880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487168" y="4114800"/>
            <a:ext cx="256032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28600" y="39776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repair chain:</a:t>
            </a:r>
            <a:endParaRPr lang="en-US" sz="1000" dirty="0"/>
          </a:p>
          <a:p>
            <a:pPr marL="0" indent="0" algn="r">
              <a:buNone/>
            </a:pPr>
            <a:r>
              <a:rPr lang="en-US" sz="100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⇒ escalate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H="1">
            <a:off x="1417320" y="2148840"/>
            <a:ext cx="132588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417320" y="2148840"/>
            <a:ext cx="914" cy="566928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⇒ re-measure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0" y="2743200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0" y="2743200"/>
            <a:ext cx="20116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(evaluate = episode)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680960" y="3200400"/>
            <a:ext cx="548640" cy="914"/>
          </a:xfrm>
          <a:prstGeom prst="line">
            <a:avLst/>
          </a:prstGeom>
          <a:noFill/>
          <a:ln w="2540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7498080" y="32461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dispatch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96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82296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1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2354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6012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96012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2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0607040" y="3200400"/>
            <a:ext cx="36576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10972800" y="2743200"/>
            <a:ext cx="100584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10972800" y="2743200"/>
            <a:ext cx="10058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 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04672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→ = on-fail handoff (attempts spent, changes restored)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 flipV="1">
            <a:off x="87325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101041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11475720" y="2103120"/>
            <a:ext cx="914" cy="64008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675120" y="2103120"/>
            <a:ext cx="4800600" cy="914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675120" y="2103120"/>
            <a:ext cx="914" cy="594360"/>
          </a:xfrm>
          <a:prstGeom prst="line">
            <a:avLst/>
          </a:prstGeom>
          <a:noFill/>
          <a:ln w="25400">
            <a:solidFill>
              <a:srgbClr val="2C7A3F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5852160" y="17556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7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on-pass: re-verify · restart-episode ⇒ fresh measurement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1475720" y="3657600"/>
            <a:ext cx="914" cy="1051560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931920" y="4709160"/>
            <a:ext cx="7543800" cy="914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 flipV="1">
            <a:off x="3931920" y="4498848"/>
            <a:ext cx="914" cy="210312"/>
          </a:xfrm>
          <a:prstGeom prst="line">
            <a:avLst/>
          </a:prstGeom>
          <a:noFill/>
          <a:ln w="25400">
            <a:solidFill>
              <a:srgbClr val="A3332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6583680" y="477316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333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rungs exhausted → escalate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6400800" y="3657600"/>
            <a:ext cx="914" cy="182880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1417320" y="5486400"/>
            <a:ext cx="4983480" cy="914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 flipV="1">
            <a:off x="1417320" y="3675888"/>
            <a:ext cx="914" cy="1810512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2377440" y="554126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⇒ run measurement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40080" y="5989320"/>
            <a:ext cx="813816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Text 51"/>
          <p:cNvSpPr/>
          <p:nvPr/>
        </p:nvSpPr>
        <p:spPr>
          <a:xfrm>
            <a:off x="868680" y="59893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repair ladder: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rung's exhaustion is a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diagnosis 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failure— every repair is </a:t>
            </a:r>
            <a:endParaRPr lang="en-US" sz="1300" dirty="0"/>
          </a:p>
          <a:p>
            <a:pPr marL="0" indent="0" algn="l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only by </a:t>
            </a:r>
            <a:r>
              <a:rPr lang="en-US" sz="1300" b="1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re-measurement</a:t>
            </a: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8961120" y="5989320"/>
            <a:ext cx="2560320" cy="731520"/>
          </a:xfrm>
          <a:prstGeom prst="roundRect">
            <a:avLst>
              <a:gd name="adj" fmla="val 8750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9098280" y="59893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✓ attested   ✗ refuted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21212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  poisoned (fail-closed)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pybb: key components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shared store: every measurement lands as an entry with its condition and standing; three segments (provision · certify · escalate) plus a full history of every change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Entry (Key)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measurement under judgment, identified by its key: the measurement, its condition, its standing, its repair history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one full judgment of an entry: the attestation runs once and its verdicts are memoized until the episode ends — or is restarted for genuinely fresh measurement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division of blackboard entries among different workflow stages: each knowledge source watches its own collection of keys, and an entry sits in the partition of whichever rung currently owns it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cycle: evaluates every entry (provision first), dispatches keys onto outcome-routed chains, advances or hands off, escalates; halts only when everything is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source (KS)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repair rung: operates only on entries in its partition (optionally a single component), bounded by max_attempts; its work is always re-judged, never trusted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per-key chains: on_fail = the repair ladder, on_pass = a confirmation chain before an entry may rest in good standing</a:t>
            </a:r>
            <a:endParaRPr lang="en-US" sz="1600" dirty="0"/>
          </a:p>
          <a:p>
            <a:pPr marL="342900" indent="-342900" algn="l"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/ Ledger</a:t>
            </a: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blackboard's running record of every change across all segments — measurements, repairs, verdicts — the audit trail of the repair lifecycle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Artifact classes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17320"/>
          <a:ext cx="10881360" cy="914400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Artifact 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Measured how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Judged by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 type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whole-file hash of spec files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from golden — or </a:t>
                      </a:r>
                      <a:r>
                        <a:rPr lang="en-US" sz="1250" i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bless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(sanctioned change)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syntax-guided file slices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slice-level appraisal, attributed by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restore golden slice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developer-owned 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 + verification of contracts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/ Verification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verification run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 kernel — fresh, never cached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proof synthesis/repair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Toolchain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hashed </a:t>
                      </a: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measure-then-use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tool hash(es), taken in the same 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out-of-band or pre-sanctioned restore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Trust state </a:t>
                      </a:r>
                      <a:r>
                        <a:rPr lang="en-US" sz="1100" i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(cross-cutting)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bundles, goldens, signatures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appraisal vs the signed golden or derived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refusal</a:t>
                      </a:r>
                      <a:r>
                        <a:rPr lang="en-US" sz="12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— out-of-band re-bless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Preliminaries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841955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841955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</a:t>
            </a:r>
            <a:endParaRPr lang="en-US" sz="900" dirty="0"/>
          </a:p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Isolette (SysMLv2 → Rust)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043830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43830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Ecosystems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245706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7245706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 the Loop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9447581" y="201168"/>
            <a:ext cx="2073859" cy="502920"/>
          </a:xfrm>
          <a:prstGeom prst="roundRect">
            <a:avLst>
              <a:gd name="adj" fmla="val 9091"/>
            </a:avLst>
          </a:prstGeom>
          <a:solidFill>
            <a:srgbClr val="E4EAF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447581" y="201168"/>
            <a:ext cx="2073859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950976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isolette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567557" y="1812296"/>
            <a:ext cx="614960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system: </a:t>
            </a: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infant-incubator thermostat — regulate and monitor functions keep a newborn's environment in a safe temperature range; heat control on/off</a:t>
            </a:r>
            <a:endParaRPr lang="en-US" sz="1400" dirty="0"/>
          </a:p>
          <a:p>
            <a:pPr marL="0" indent="0" algn="l">
              <a:spcAft>
                <a:spcPts val="1000"/>
              </a:spcAft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requirements traceable to FAA AR-08-32 (the REQ-MHS-* family the 	scenes will tamper with)</a:t>
            </a:r>
            <a:endParaRPr lang="en-US" sz="1400" dirty="0"/>
          </a:p>
          <a:p>
            <a:pPr marL="342900" indent="-342900" algn="l">
              <a:buSzPct val="100000"/>
              <a:buChar char="•"/>
            </a:pPr>
            <a:r>
              <a:rPr lang="en-US" sz="140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relevance: </a:t>
            </a: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INSPECTA program's seL4/Microkit exemplar — a real, current, safety-critical development artifact, not a toy built for this talk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SysMLv2 model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GUMBO contracts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879092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226564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226564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codegen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465576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13048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3813048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Verus-verified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52060" y="3977640"/>
            <a:ext cx="3840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399532" y="3977640"/>
            <a:ext cx="1275588" cy="777240"/>
          </a:xfrm>
          <a:prstGeom prst="roundRect">
            <a:avLst>
              <a:gd name="adj" fmla="val 7059"/>
            </a:avLst>
          </a:prstGeom>
          <a:solidFill>
            <a:srgbClr val="3A4A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399532" y="3977640"/>
            <a:ext cx="1275588" cy="7772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 / Microkit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502920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n-US" sz="1350" b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example: </a:t>
            </a:r>
            <a:r>
              <a:rPr lang="en-US" sz="13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artifact class from the previous slide is present and measured — blessed model, generated contracts, developer-owned implementation, machine-checked proofs, pinned toolchain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40080" y="623620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850" dirty="0"/>
          </a:p>
          <a:p>
            <a:pPr marL="0" indent="0" algn="l">
              <a:buNone/>
            </a:pP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r>
              <a:rPr lang="en-US" sz="8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r>
              <a:rPr lang="en-US" sz="8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7040880" y="13258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measured surface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040880" y="162763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178040" y="162763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198069" y="1627632"/>
            <a:ext cx="327765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spec files (SysML packages + contract-bearing Rust)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040880" y="2377440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7178040" y="2377440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458200" y="2377440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slices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040880" y="3127248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78040" y="3127248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36" name="Text 34"/>
          <p:cNvSpPr/>
          <p:nvPr/>
        </p:nvSpPr>
        <p:spPr>
          <a:xfrm>
            <a:off x="8458200" y="3127248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crates re-verified every episode (7 components + the system proof)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040880" y="3877056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7178040" y="3877056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1,862</a:t>
            </a:r>
            <a:endParaRPr lang="en-US" sz="2600" dirty="0"/>
          </a:p>
        </p:txBody>
      </p:sp>
      <p:sp>
        <p:nvSpPr>
          <p:cNvPr id="39" name="Text 37"/>
          <p:cNvSpPr/>
          <p:nvPr/>
        </p:nvSpPr>
        <p:spPr>
          <a:xfrm>
            <a:off x="8458200" y="3877056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system-proof obligations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7040880" y="4626864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7178040" y="4626864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2600" dirty="0"/>
          </a:p>
        </p:txBody>
      </p:sp>
      <p:sp>
        <p:nvSpPr>
          <p:cNvPr id="42" name="Text 40"/>
          <p:cNvSpPr/>
          <p:nvPr/>
        </p:nvSpPr>
        <p:spPr>
          <a:xfrm>
            <a:off x="8458200" y="4626864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toolchain + dependency files hashed measure-then-use (4 Verus · 9 HAMR · 17 SysML libs)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040880" y="5376672"/>
            <a:ext cx="4480560" cy="676656"/>
          </a:xfrm>
          <a:prstGeom prst="roundRect">
            <a:avLst>
              <a:gd name="adj" fmla="val 8108"/>
            </a:avLst>
          </a:prstGeom>
          <a:solidFill>
            <a:srgbClr val="F2F4F8"/>
          </a:solidFill>
          <a:ln w="1270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7178040" y="5376672"/>
            <a:ext cx="12344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45" name="Text 43"/>
          <p:cNvSpPr/>
          <p:nvPr/>
        </p:nvSpPr>
        <p:spPr>
          <a:xfrm>
            <a:off x="8458200" y="5376672"/>
            <a:ext cx="3017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tiers — the blackboard’s entry keys: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props · l1a · l2 · verus · cheat · sysproof · gensrc · report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&amp; HAMR (Kansas State)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 &amp; Belt,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Isolette System: Illustrating End-to-End Artifacts for Rigorous Model-Based Engineering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 LNCS 15240, 2025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McKenzie, Liang,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Formal Methods Integrated Development with SysMLv2 Using HAMR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Springer, 2025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Hatcliff, Belt, Robby, Carpenter,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HAMR: An AADL Multi-platform Code Generation Toolset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ISoLA 2021, LNCS 13036, pp. 274–295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Lempia &amp; Miller,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Engineering Management Handbook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DOT/FAA/AR-08/32, 2009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INSPECTA models: github.com/loonwerks/INSPECTA-models</a:t>
            </a:r>
            <a:endParaRPr lang="en-US" sz="1400" dirty="0"/>
          </a:p>
          <a:p>
            <a:pPr marL="0" indent="0" algn="l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Attestation foundations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Ramsdell, Rowe, Alexander, Helble, Loscocco, Pendergrass, Petz,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Orchestrating Layered Attestations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POST 2019, LNCS 11426</a:t>
            </a:r>
            <a:endParaRPr lang="en-US" sz="1400" dirty="0"/>
          </a:p>
          <a:p>
            <a:pPr marL="0" indent="0" algn="l">
              <a:spcBef>
                <a:spcPts val="1200"/>
              </a:spcBef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&amp; platform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Lattuada, Hance, Cho, Brun, Subasinghe, Zhou, Howell, Parno, Hawblitzel,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Verus: Verifying Rust Programs using Linear Ghost Types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PACMPL 7 (OOPSLA1), 2023</a:t>
            </a:r>
            <a:endParaRPr lang="en-US" sz="14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Klein et al., </a:t>
            </a:r>
            <a:r>
              <a:rPr lang="en-US" sz="115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seL4: Formal Verification of an OS Kernel</a:t>
            </a: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SOSP 2009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2173</Words>
  <Application>Microsoft Macintosh PowerPoint</Application>
  <PresentationFormat>Widescreen</PresentationFormat>
  <Paragraphs>182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Petz, Adam Michael</cp:lastModifiedBy>
  <cp:revision>3</cp:revision>
  <dcterms:created xsi:type="dcterms:W3CDTF">2026-08-26T14:52:25Z</dcterms:created>
  <dcterms:modified xsi:type="dcterms:W3CDTF">2026-08-26T14:55:50Z</dcterms:modified>
</cp:coreProperties>
</file>